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开场：今天不从术语背诵开始，而是从一个问题开始——AI 到底在做什么？理解它的工作方式，才能知道哪些工作适合交给它，哪些工作必须保留人。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用“新人小林”贯穿全场。数据像他的工作档案，训练像岗前练习，推理像接单做事，复核像绩效复盘。AI 的价值来自整个闭环，而不是某一次回答。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核心类比：训练是反过来找参数，推理是参数固定后代入新输入。这个区分能帮助企业理解：训练是一次性投入，推理是每次调用都会产生的成本与时延。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把训练和推理分开讲，听众就能理解为什么“模型训练很贵”与“每次调用也要付钱”是两笔不同的账。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不要把“神经元”讲成会思考的小人。它就是一个小计算单元：先做加权求和，再由激活函数决定是否放行。线性层混合信息，激活函数提供非线性。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可以用“画地图”类比：只有直尺，能画的边界很有限；有了折点和弯路，模型才有机会描述复杂问题。激活函数提供表达能力，但不保证模型就一定学会。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网络结构就是“分工设计”。串联负责逐层抽象，并联负责多视角，跳跃连接负责保留原信息。企业不要只问模型多大，要问结构是否匹配任务。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Transformer 的关键不是“更聪明”，而是更擅长处理上下文。注意力可以理解为：每个词都在决定自己应该参考哪些词。Q/K/V 是“我在找什么、谁匹配、对方带来什么”。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 的训练目标是预测下一个 token，生成时通常一步一步解码。因果遮罩保证当前位置只看已经出现的内容；温度主要改变抽样随机性，不会增加事实知识或纠错能力。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这里的 RSI 按 Recursive Self-Improvement 解释。企业可做的是让 AI 帮忙生成测试、数据和改进方案，但必须由固定外部指标、独立留出集、沙盒、权限、人审批和回滚机制来约束。改进代码、工具或数据不等于基础模型权重自动更新，也不保证能力无限增长。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用四个词把局限讲清：幻觉、过时、脆弱、偏差与安全。可靠性三角表示在同一任务与资源约束下，准确率、速度、成本通常需要取舍；缓存、批处理和模型组合可以改变这个平衡。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企业容易漏算三笔钱：数据准备、集成治理、错误代价。用“任务—工具匹配”可以避免用最贵的模型处理最简单的问题。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场景选择不要从“模型有多强”开始，而要从“任务是否重复、风险是否可控、数据是否可用”开始。高风险任务让 AI 做草稿或提醒，人做最终决定。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落地成熟度是逐级放权，而不是一次性自动化。先从副驾驶开始建立评测基线，再把稳定的动作放进流程，最后才考虑系统级行动。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这页把技术原理翻译成管理动作：没有数据就没有可靠推理，没有护栏就没有可控自动化，没有 ROI 就没有持续投入。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结尾留三个问题：它凭什么知道？错了谁发现？省下的钱够吗？这三个问题能把 AI 从演示效果拉回到企业治理和经营结果。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457200"/>
            <a:ext cx="3749040" cy="3749040"/>
          </a:xfrm>
          <a:prstGeom prst="ellipse">
            <a:avLst/>
          </a:prstGeom>
          <a:solidFill>
            <a:srgbClr val="1A2454">
              <a:alpha val="78000"/>
            </a:srgbClr>
          </a:solidFill>
          <a:ln w="15240">
            <a:solidFill>
              <a:srgbClr val="6EE7F9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280160"/>
            <a:ext cx="2103120" cy="2103120"/>
          </a:xfrm>
          <a:prstGeom prst="ellipse">
            <a:avLst/>
          </a:prstGeom>
          <a:solidFill>
            <a:srgbClr val="1B998B">
              <a:alpha val="82000"/>
            </a:srgbClr>
          </a:solidFill>
          <a:ln w="19050">
            <a:solidFill>
              <a:srgbClr val="6EE7F9">
                <a:alpha val="7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005840"/>
            <a:ext cx="6126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 AI，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才能用好 AI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274320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从函数、神经网络到企业流程的一条故事线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13232" y="3703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不是魔法，是一台从例子里调旋钮、再按旋钮给答案的概率机器。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16368" y="48737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235440" y="48737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27080" y="48737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26680" y="4343400"/>
            <a:ext cx="411480" cy="411480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36608" y="4343400"/>
            <a:ext cx="411480" cy="4114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37392" y="4343400"/>
            <a:ext cx="411480" cy="411480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4553712"/>
            <a:ext cx="1280160" cy="0"/>
          </a:xfrm>
          <a:prstGeom prst="line">
            <a:avLst/>
          </a:prstGeom>
          <a:noFill/>
          <a:ln w="25400">
            <a:solidFill>
              <a:srgbClr val="6EE7F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8088" y="4553712"/>
            <a:ext cx="1280160" cy="0"/>
          </a:xfrm>
          <a:prstGeom prst="line">
            <a:avLst/>
          </a:prstGeom>
          <a:noFill/>
          <a:ln w="25400">
            <a:solidFill>
              <a:srgbClr val="1B998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668512" y="1965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fθ(x)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315200" y="534924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企业的关键问题不是“要不要 AI”，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而是“把它放在哪个工位”。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3232" y="6172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 AI 原理入门 · 2026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· 先建立直觉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先讲一个企业故事：新人小林如何变成“数字同事”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10789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给他 10 万条历史订单、客服对话和质检照片。先学习，再接单；答错要复盘，不能直接签字。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2148840"/>
            <a:ext cx="233172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032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359152"/>
            <a:ext cx="292608" cy="292608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2414016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340864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看资料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59536" y="2889504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944368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59536" y="342900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从过去案例里找规律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90672" y="3063240"/>
            <a:ext cx="310896" cy="25603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11296" y="2148840"/>
            <a:ext cx="233172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032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12464" y="2359152"/>
            <a:ext cx="292608" cy="29260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2464" y="2414016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33088" y="2340864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练习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712464" y="2889504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2944368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12464" y="342900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把“旋钮”调到合适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0" y="3063240"/>
            <a:ext cx="310896" cy="25603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64224" y="2148840"/>
            <a:ext cx="233172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032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65392" y="2359152"/>
            <a:ext cx="292608" cy="292608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65392" y="2414016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86016" y="2340864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接单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6565392" y="2889504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65392" y="2944368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推理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65392" y="342900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拿新问题算一个答案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796528" y="3063240"/>
            <a:ext cx="310896" cy="25603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17152" y="2148840"/>
            <a:ext cx="233172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0320">
            <a:solidFill>
              <a:srgbClr val="FFC857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418320" y="2359152"/>
            <a:ext cx="292608" cy="292608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18320" y="2414016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838944" y="2340864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复核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9418320" y="2889504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8320" y="2944368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闭环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418320" y="342900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错了记录，继续改进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58368" y="4919472"/>
            <a:ext cx="10927080" cy="777240"/>
          </a:xfrm>
          <a:prstGeom prst="roundRect">
            <a:avLst>
              <a:gd name="adj" fmla="val 14118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1832" y="5166360"/>
            <a:ext cx="10287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这就把三个问题串起来了：AI 怎样学？为什么会错？企业该把哪类工作交给它？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· 训练与推理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一句话定义 AI：给定函数，先找旋钮，再算答案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298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把模型想成一个函数：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1143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 = f(x; θ)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13232" y="1975104"/>
            <a:ext cx="507492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905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69264" y="22585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2313432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9264" y="278892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给很多“输入 → 正确输出”的例子，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反过来把参数 θ 调到合适。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9264" y="3950208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像调收音机：一点点拧旋钮，让杂音变少。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97280" y="4480560"/>
            <a:ext cx="146304" cy="14630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4553712"/>
            <a:ext cx="777240" cy="-201168"/>
          </a:xfrm>
          <a:prstGeom prst="line">
            <a:avLst/>
          </a:prstGeom>
          <a:noFill/>
          <a:ln w="1905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2011680" y="4279392"/>
            <a:ext cx="146304" cy="14630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48840" y="4352544"/>
            <a:ext cx="685800" cy="137160"/>
          </a:xfrm>
          <a:prstGeom prst="line">
            <a:avLst/>
          </a:prstGeom>
          <a:noFill/>
          <a:ln w="1905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2834640" y="4416552"/>
            <a:ext cx="146304" cy="14630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4489704"/>
            <a:ext cx="685800" cy="-256032"/>
          </a:xfrm>
          <a:prstGeom prst="line">
            <a:avLst/>
          </a:prstGeom>
          <a:noFill/>
          <a:ln w="1905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3657600" y="4160520"/>
            <a:ext cx="146304" cy="14630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760" y="4233672"/>
            <a:ext cx="777240" cy="-155448"/>
          </a:xfrm>
          <a:prstGeom prst="line">
            <a:avLst/>
          </a:prstGeom>
          <a:noFill/>
          <a:ln w="1905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4572000" y="4005072"/>
            <a:ext cx="146304" cy="146304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1975104"/>
            <a:ext cx="5102352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905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2585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11112" y="2313432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推理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11112" y="278892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 θ 固定，给一个新输入 x，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计算出答案 ŷ。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611112" y="3950208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像拿着已经调好的收音机，听一条新频道。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11696" y="4334256"/>
            <a:ext cx="4187952" cy="475488"/>
          </a:xfrm>
          <a:prstGeom prst="roundRect">
            <a:avLst>
              <a:gd name="adj" fmla="val 26923"/>
            </a:avLst>
          </a:prstGeom>
          <a:solidFill>
            <a:srgbClr val="EEF5F5"/>
          </a:solidFill>
          <a:ln w="12700">
            <a:solidFill>
              <a:srgbClr val="EEF5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44714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新问题 x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55280" y="4453128"/>
            <a:ext cx="411480" cy="228600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77072" y="4471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 fθ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829800" y="4453128"/>
            <a:ext cx="411480" cy="228600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42448" y="447141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 ŷ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55046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训练反复减少误差，在验证表现上逼近一组能泛化的参数；推理时参数通常冻结。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· 两个过程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 vs 推理：一个是在改公式，一个是在代公式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5303520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905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1645920"/>
            <a:ext cx="1481328" cy="292608"/>
          </a:xfrm>
          <a:prstGeom prst="roundRect">
            <a:avLst>
              <a:gd name="adj" fmla="val 50000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1700784"/>
            <a:ext cx="1481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训练：像学厨师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2331720"/>
            <a:ext cx="310896" cy="310896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395728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0876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看很多菜谱和历史订单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61288" y="2670048"/>
            <a:ext cx="0" cy="27432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005840" y="3090672"/>
            <a:ext cx="310896" cy="310896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54680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08760" y="3108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试做，和标准答案比差多少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161288" y="3429000"/>
            <a:ext cx="0" cy="27432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05840" y="3849624"/>
            <a:ext cx="310896" cy="310896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13632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08760" y="3867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根据“差距”调味、改参数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特点：慢、贵、集中发生；决定“学会什么”。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1371600"/>
            <a:ext cx="5303520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905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83096" y="1645920"/>
            <a:ext cx="1572768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3096" y="1700784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推理：像接单做菜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37960" y="2331720"/>
            <a:ext cx="310896" cy="310896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2395728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4088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收到一个新问题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693408" y="2670048"/>
            <a:ext cx="0" cy="27432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537960" y="3090672"/>
            <a:ext cx="310896" cy="310896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3154680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0" y="3108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按已经调好的配方计算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693408" y="3429000"/>
            <a:ext cx="0" cy="27432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6537960" y="3849624"/>
            <a:ext cx="310896" cy="310896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3913632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40880" y="3867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每个 token 都要付算力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489204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特点：每问一次都花钱；长上下文、并发会放大成本。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60120" y="60167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企业决策：训练决定能力边界；推理决定日常账单。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· 神经网络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一个神经元：线性层负责“混合”，激活函数负责“开闸”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5240">
            <a:solidFill>
              <a:srgbClr val="D6E2E6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700784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55648"/>
            <a:ext cx="1874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线性层：y = Wx + 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17627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把每个线索乘上权重，再加总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2761488"/>
            <a:ext cx="1901952" cy="384048"/>
          </a:xfrm>
          <a:prstGeom prst="roundRect">
            <a:avLst>
              <a:gd name="adj" fmla="val 23810"/>
            </a:avLst>
          </a:prstGeom>
          <a:solidFill>
            <a:srgbClr val="EEF5F5"/>
          </a:solidFill>
          <a:ln w="12700">
            <a:solidFill>
              <a:srgbClr val="EEF5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8136" y="2862072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客户说“太贵”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50008" y="2862072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x₁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44368" y="2953512"/>
            <a:ext cx="941832" cy="484632"/>
          </a:xfrm>
          <a:prstGeom prst="line">
            <a:avLst/>
          </a:prstGeom>
          <a:noFill/>
          <a:ln w="22860">
            <a:solidFill>
              <a:srgbClr val="6EE7F9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60120" y="3438144"/>
            <a:ext cx="1901952" cy="384048"/>
          </a:xfrm>
          <a:prstGeom prst="roundRect">
            <a:avLst>
              <a:gd name="adj" fmla="val 23810"/>
            </a:avLst>
          </a:prstGeom>
          <a:solidFill>
            <a:srgbClr val="EEF5F5"/>
          </a:solidFill>
          <a:ln w="12700">
            <a:solidFill>
              <a:srgbClr val="EEF5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8136" y="3538728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30 天退货率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50008" y="35387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x₂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44368" y="3630168"/>
            <a:ext cx="941832" cy="-192024"/>
          </a:xfrm>
          <a:prstGeom prst="line">
            <a:avLst/>
          </a:prstGeom>
          <a:noFill/>
          <a:ln w="22860">
            <a:solidFill>
              <a:srgbClr val="1B99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60120" y="4114800"/>
            <a:ext cx="1901952" cy="384048"/>
          </a:xfrm>
          <a:prstGeom prst="roundRect">
            <a:avLst>
              <a:gd name="adj" fmla="val 23810"/>
            </a:avLst>
          </a:prstGeom>
          <a:solidFill>
            <a:srgbClr val="EEF5F5"/>
          </a:solidFill>
          <a:ln w="12700">
            <a:solidFill>
              <a:srgbClr val="EEF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8136" y="421538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季节因素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50008" y="4215384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x₃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944368" y="4306824"/>
            <a:ext cx="941832" cy="-868680"/>
          </a:xfrm>
          <a:prstGeom prst="line">
            <a:avLst/>
          </a:prstGeom>
          <a:noFill/>
          <a:ln w="22860">
            <a:solidFill>
              <a:srgbClr val="FF7A59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94760" y="3063240"/>
            <a:ext cx="987552" cy="987552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94760" y="3300984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91456" y="3566160"/>
            <a:ext cx="786384" cy="0"/>
          </a:xfrm>
          <a:prstGeom prst="line">
            <a:avLst/>
          </a:prstGeom>
          <a:noFill/>
          <a:ln w="22860">
            <a:solidFill>
              <a:srgbClr val="1A2454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532120" y="3154680"/>
            <a:ext cx="457200" cy="822960"/>
          </a:xfrm>
          <a:prstGeom prst="roundRect">
            <a:avLst>
              <a:gd name="adj" fmla="val 3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41264" y="3438144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0120" y="5074920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权重只是“线索旋钮”的直觉比喻；真实重要性要靠评测验证。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498348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905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66560" y="1700784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755648"/>
            <a:ext cx="1170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激活：ReLU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762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负数关掉，正数放行：ReLU(z)=max(0,z)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0" y="5010912"/>
            <a:ext cx="3493008" cy="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162288" y="5376672"/>
            <a:ext cx="0" cy="-265176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662672" y="5010912"/>
            <a:ext cx="1499616" cy="0"/>
          </a:xfrm>
          <a:prstGeom prst="line">
            <a:avLst/>
          </a:prstGeom>
          <a:noFill/>
          <a:ln w="40640">
            <a:solidFill>
              <a:srgbClr val="FF7A59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162288" y="5010912"/>
            <a:ext cx="1280160" cy="-1947672"/>
          </a:xfrm>
          <a:prstGeom prst="line">
            <a:avLst/>
          </a:prstGeom>
          <a:noFill/>
          <a:ln w="40640">
            <a:solidFill>
              <a:srgbClr val="1B998B"/>
            </a:solidFill>
            <a:prstDash val="solid"/>
            <a:headEnd type="none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7223760" y="5120640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−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835640" y="5120640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+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973568" y="50749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93808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开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84848" y="53218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一层很简单；很多层把简单规则叠成复杂表达。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· 非线性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为什么需要激活函数？把直线折成能拐弯的路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33502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没有激活：叠很多层，仍然像一把直尺。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3232" y="1828800"/>
            <a:ext cx="498348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6E2E6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34440" y="4892040"/>
            <a:ext cx="3950208" cy="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417320" y="5074920"/>
            <a:ext cx="0" cy="-2715768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508760" y="4663440"/>
            <a:ext cx="3520440" cy="-2057400"/>
          </a:xfrm>
          <a:prstGeom prst="line">
            <a:avLst/>
          </a:prstGeom>
          <a:noFill/>
          <a:ln w="44450">
            <a:solidFill>
              <a:srgbClr val="1A2454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2057400" y="297180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只能用一条直线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切分世界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51389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猫 / 狗、流失 / 不流失、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合格 / 不合格……很多边界不是直的。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27648" y="13350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加上激活：每个神经元都能在不同区域换一条规则。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27648" y="1828800"/>
            <a:ext cx="507492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778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39712" y="4892040"/>
            <a:ext cx="4041648" cy="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2592" y="5074920"/>
            <a:ext cx="0" cy="-2715768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114032" y="4892040"/>
            <a:ext cx="1435608" cy="0"/>
          </a:xfrm>
          <a:prstGeom prst="line">
            <a:avLst/>
          </a:prstGeom>
          <a:noFill/>
          <a:ln w="40640">
            <a:solidFill>
              <a:srgbClr val="FF7A59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549640" y="4892040"/>
            <a:ext cx="2029968" cy="-2130552"/>
          </a:xfrm>
          <a:prstGeom prst="line">
            <a:avLst/>
          </a:prstGeom>
          <a:noFill/>
          <a:ln w="40640">
            <a:solidFill>
              <a:srgbClr val="1B998B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8430768" y="4773168"/>
            <a:ext cx="228600" cy="22860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43800" y="294436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一个折点很简单；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很多折点就能逼近复杂曲线。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03720" y="51389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模型因此可以“弯着理解”现实，而不是只会画直线。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084832" y="5815584"/>
            <a:ext cx="8001000" cy="457200"/>
          </a:xfrm>
          <a:prstGeom prst="roundRect">
            <a:avLst>
              <a:gd name="adj" fmla="val 24000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67712" y="5952744"/>
            <a:ext cx="7635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线性层负责组合信息；激活函数打破线性限制；多层组合才有复杂表达能力。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· 网络结构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网络结构 = 分工设计：很多简单层协作，才描述复杂问题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2801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像一条流水线：深度是工序，宽度是每道工序的人手。结构决定“先看什么，再组合什么”。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3401568"/>
            <a:ext cx="15727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71600" y="3602736"/>
            <a:ext cx="384048" cy="384048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68503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362102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86968" y="3922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像素 / 词 / 数值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41448" y="3803904"/>
            <a:ext cx="347472" cy="25603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0360" y="2852928"/>
            <a:ext cx="157276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032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3054096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13639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26664" y="362102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局部线索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90088" y="3922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边缘 / 关键词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44568" y="3803904"/>
            <a:ext cx="347472" cy="25603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83480" y="2322576"/>
            <a:ext cx="1572768" cy="1993392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2032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77840" y="2523744"/>
            <a:ext cx="384048" cy="384048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260604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29784" y="362102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组合特征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93208" y="3922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形状 / 短语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47688" y="3803904"/>
            <a:ext cx="347472" cy="25603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86600" y="1801368"/>
            <a:ext cx="1572768" cy="25146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2032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680960" y="2002536"/>
            <a:ext cx="384048" cy="384048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208483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32904" y="362102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任务判断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96328" y="3922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分类 / 生成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0" y="1737360"/>
            <a:ext cx="2423160" cy="1170432"/>
          </a:xfrm>
          <a:prstGeom prst="roundRect">
            <a:avLst>
              <a:gd name="adj" fmla="val 9375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45168" y="19385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并联：从多个角度看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464040" y="2267712"/>
            <a:ext cx="109728" cy="109728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82912" y="2322576"/>
            <a:ext cx="566928" cy="210312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0" y="2532888"/>
            <a:ext cx="109728" cy="10972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82912" y="2587752"/>
            <a:ext cx="566928" cy="-54864"/>
          </a:xfrm>
          <a:prstGeom prst="line">
            <a:avLst/>
          </a:prstGeom>
          <a:noFill/>
          <a:ln w="15240">
            <a:solidFill>
              <a:srgbClr val="1B998B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0" y="2798064"/>
            <a:ext cx="109728" cy="109728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82912" y="2852928"/>
            <a:ext cx="566928" cy="-320040"/>
          </a:xfrm>
          <a:prstGeom prst="line">
            <a:avLst/>
          </a:prstGeom>
          <a:noFill/>
          <a:ln w="15240">
            <a:solidFill>
              <a:srgbClr val="FF7A59"/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10149840" y="2450592"/>
            <a:ext cx="164592" cy="164592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0" y="3154680"/>
            <a:ext cx="2423160" cy="1170432"/>
          </a:xfrm>
          <a:prstGeom prst="roundRect">
            <a:avLst>
              <a:gd name="adj" fmla="val 9375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45168" y="33649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跳跃：让原信息直达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464040" y="3995928"/>
            <a:ext cx="667512" cy="-292608"/>
          </a:xfrm>
          <a:prstGeom prst="line">
            <a:avLst/>
          </a:prstGeom>
          <a:noFill/>
          <a:ln w="22860">
            <a:solidFill>
              <a:srgbClr val="1B998B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464040" y="3557016"/>
            <a:ext cx="667512" cy="146304"/>
          </a:xfrm>
          <a:prstGeom prst="line">
            <a:avLst/>
          </a:prstGeom>
          <a:noFill/>
          <a:ln w="22860">
            <a:solidFill>
              <a:srgbClr val="FF7A59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085832" y="3593592"/>
            <a:ext cx="219456" cy="219456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1248" y="5577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不是越大越好：容量、数据、成本和泛化要匹配。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· 上下文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Transformer：让每个词先问“我该关注谁？”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316736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传统按顺序读，长句容易忘；Transformer 用注意力让每个词都能回头看上下文。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2743200"/>
            <a:ext cx="822960" cy="475488"/>
          </a:xfrm>
          <a:prstGeom prst="roundRect">
            <a:avLst>
              <a:gd name="adj" fmla="val 23077"/>
            </a:avLst>
          </a:prstGeom>
          <a:solidFill>
            <a:srgbClr val="1A2454"/>
          </a:solidFill>
          <a:ln w="1397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8895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小明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74520" y="2743200"/>
            <a:ext cx="566928" cy="475488"/>
          </a:xfrm>
          <a:prstGeom prst="roundRect">
            <a:avLst>
              <a:gd name="adj" fmla="val 23077"/>
            </a:avLst>
          </a:prstGeom>
          <a:solidFill>
            <a:srgbClr val="1A2454"/>
          </a:solidFill>
          <a:ln w="1397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74520" y="288950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651760" y="2743200"/>
            <a:ext cx="566928" cy="475488"/>
          </a:xfrm>
          <a:prstGeom prst="roundRect">
            <a:avLst>
              <a:gd name="adj" fmla="val 23077"/>
            </a:avLst>
          </a:prstGeom>
          <a:solidFill>
            <a:srgbClr val="1A2454"/>
          </a:solidFill>
          <a:ln w="1397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88950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书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56432" y="2743200"/>
            <a:ext cx="822960" cy="475488"/>
          </a:xfrm>
          <a:prstGeom prst="roundRect">
            <a:avLst>
              <a:gd name="adj" fmla="val 23077"/>
            </a:avLst>
          </a:prstGeom>
          <a:solidFill>
            <a:srgbClr val="1A2454"/>
          </a:solidFill>
          <a:ln w="1397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28895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放进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63440" y="2743200"/>
            <a:ext cx="822960" cy="475488"/>
          </a:xfrm>
          <a:prstGeom prst="roundRect">
            <a:avLst>
              <a:gd name="adj" fmla="val 23077"/>
            </a:avLst>
          </a:prstGeom>
          <a:solidFill>
            <a:srgbClr val="1A2454"/>
          </a:solidFill>
          <a:ln w="1397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8895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抽屉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43600" y="2743200"/>
            <a:ext cx="822960" cy="475488"/>
          </a:xfrm>
          <a:prstGeom prst="roundRect">
            <a:avLst>
              <a:gd name="adj" fmla="val 23077"/>
            </a:avLst>
          </a:prstGeom>
          <a:solidFill>
            <a:srgbClr val="1A2454"/>
          </a:solidFill>
          <a:ln w="1397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28895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因为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040880" y="2743200"/>
            <a:ext cx="566928" cy="475488"/>
          </a:xfrm>
          <a:prstGeom prst="roundRect">
            <a:avLst>
              <a:gd name="adj" fmla="val 23077"/>
            </a:avLst>
          </a:prstGeom>
          <a:solidFill>
            <a:srgbClr val="FF7A59"/>
          </a:solidFill>
          <a:ln w="13970">
            <a:solidFill>
              <a:srgbClr val="FF7A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88950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73568" y="2743200"/>
            <a:ext cx="822960" cy="475488"/>
          </a:xfrm>
          <a:prstGeom prst="roundRect">
            <a:avLst>
              <a:gd name="adj" fmla="val 23077"/>
            </a:avLst>
          </a:prstGeom>
          <a:solidFill>
            <a:srgbClr val="1A2454"/>
          </a:solidFill>
          <a:ln w="1397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28895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太重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15200" y="2706624"/>
            <a:ext cx="-4251960" cy="0"/>
          </a:xfrm>
          <a:prstGeom prst="line">
            <a:avLst/>
          </a:prstGeom>
          <a:noFill/>
          <a:ln w="38100">
            <a:solidFill>
              <a:srgbClr val="FF7A59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15200" y="2615184"/>
            <a:ext cx="-2240280" cy="0"/>
          </a:xfrm>
          <a:prstGeom prst="line">
            <a:avLst/>
          </a:prstGeom>
          <a:noFill/>
          <a:ln w="21590">
            <a:solidFill>
              <a:srgbClr val="FFC857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15200" y="2523744"/>
            <a:ext cx="-5989320" cy="0"/>
          </a:xfrm>
          <a:prstGeom prst="line">
            <a:avLst/>
          </a:prstGeom>
          <a:noFill/>
          <a:ln w="13970">
            <a:solidFill>
              <a:srgbClr val="6EE7F9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635240" y="199339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“它”更该关注“书”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9808" y="3977640"/>
            <a:ext cx="3218688" cy="1234440"/>
          </a:xfrm>
          <a:prstGeom prst="roundRect">
            <a:avLst>
              <a:gd name="adj" fmla="val 8889"/>
            </a:avLst>
          </a:prstGeom>
          <a:solidFill>
            <a:srgbClr val="1A2454"/>
          </a:solidFill>
          <a:ln w="15240">
            <a:solidFill>
              <a:srgbClr val="6EE7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" y="4251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· Query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8408" y="46451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我在找什么？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224528" y="3977640"/>
            <a:ext cx="3218688" cy="1234440"/>
          </a:xfrm>
          <a:prstGeom prst="roundRect">
            <a:avLst>
              <a:gd name="adj" fmla="val 8889"/>
            </a:avLst>
          </a:prstGeom>
          <a:solidFill>
            <a:srgbClr val="1A2454"/>
          </a:solidFill>
          <a:ln w="15240">
            <a:solidFill>
              <a:srgbClr val="1B99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53128" y="4251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 · Key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453128" y="46451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谁和我最匹配？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699248" y="3977640"/>
            <a:ext cx="3218688" cy="1234440"/>
          </a:xfrm>
          <a:prstGeom prst="roundRect">
            <a:avLst>
              <a:gd name="adj" fmla="val 8889"/>
            </a:avLst>
          </a:prstGeom>
          <a:solidFill>
            <a:srgbClr val="1A2454"/>
          </a:solidFill>
          <a:ln w="15240">
            <a:solidFill>
              <a:srgbClr val="FF7A5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27848" y="4251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 · Value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927848" y="46451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对方带来什么信息？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68680" y="5404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C85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与 K 打分 → softmax 变成关注比例 → 按比例汇总 V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49808" y="571500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位置 → 因果多头注意力（Q/K/V）→ 残差/归一化 → FFN（线性+激活）→ 重复多层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· 生成模型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GPT：每次只猜下一个词，却能写成一段话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30759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GPT = Generative Pre-trained Transformer：先学语言的统计规律，再按要求逐 token（文字片段）接龙。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13232" y="1828800"/>
            <a:ext cx="6629400" cy="3493008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D6E2E6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210312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57984"/>
            <a:ext cx="2331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预训练 → 对齐 → 逐 token 生成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87552" y="24871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对齐 = 学会按要求回答、守规则，不等于把新知识写进脑子。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7552" y="2898648"/>
            <a:ext cx="896112" cy="475488"/>
          </a:xfrm>
          <a:prstGeom prst="roundRect">
            <a:avLst>
              <a:gd name="adj" fmla="val 19231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04495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客户投诉：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01952" y="3026664"/>
            <a:ext cx="219456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2898648"/>
            <a:ext cx="896112" cy="475488"/>
          </a:xfrm>
          <a:prstGeom prst="roundRect">
            <a:avLst>
              <a:gd name="adj" fmla="val 19231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11680" y="304495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鞋底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26080" y="3026664"/>
            <a:ext cx="219456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35808" y="2898648"/>
            <a:ext cx="896112" cy="475488"/>
          </a:xfrm>
          <a:prstGeom prst="roundRect">
            <a:avLst>
              <a:gd name="adj" fmla="val 19231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35808" y="304495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开胶，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50208" y="3026664"/>
            <a:ext cx="219456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9936" y="2898648"/>
            <a:ext cx="896112" cy="475488"/>
          </a:xfrm>
          <a:prstGeom prst="roundRect">
            <a:avLst>
              <a:gd name="adj" fmla="val 19231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59936" y="304495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74336" y="3026664"/>
            <a:ext cx="219456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84064" y="2898648"/>
            <a:ext cx="896112" cy="475488"/>
          </a:xfrm>
          <a:prstGeom prst="roundRect">
            <a:avLst>
              <a:gd name="adj" fmla="val 19231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84064" y="304495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7856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候选 token 概率（仅展示部分）：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3000" y="418795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28800" y="4224528"/>
            <a:ext cx="1228954" cy="118872"/>
          </a:xfrm>
          <a:prstGeom prst="roundRect">
            <a:avLst>
              <a:gd name="adj" fmla="val 46154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4920" y="418795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0.42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4622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828800" y="4498848"/>
            <a:ext cx="819302" cy="118872"/>
          </a:xfrm>
          <a:prstGeom prst="roundRect">
            <a:avLst>
              <a:gd name="adj" fmla="val 46154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44622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3000" y="47365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联系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828800" y="4773168"/>
            <a:ext cx="468173" cy="118872"/>
          </a:xfrm>
          <a:prstGeom prst="roundRect">
            <a:avLst>
              <a:gd name="adj" fmla="val 46154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47365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0.16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3000" y="50109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直接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828800" y="5047488"/>
            <a:ext cx="234086" cy="118872"/>
          </a:xfrm>
          <a:prstGeom prst="roundRect">
            <a:avLst>
              <a:gd name="adj" fmla="val 46154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50109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0.08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726680" y="1828800"/>
            <a:ext cx="3703320" cy="3493008"/>
          </a:xfrm>
          <a:prstGeom prst="roundRect">
            <a:avLst>
              <a:gd name="adj" fmla="val 3141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065008" y="217627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上下文窗口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065008" y="2697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参数是长期学到的经验；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桌面是这次能直接参考的材料。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未提供的私有 / 最新资料，不能可靠推断。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8065008" y="3749040"/>
            <a:ext cx="2834640" cy="658368"/>
          </a:xfrm>
          <a:prstGeom prst="roundRect">
            <a:avLst>
              <a:gd name="adj" fmla="val 16667"/>
            </a:avLst>
          </a:prstGeom>
          <a:solidFill>
            <a:srgbClr val="0B1020"/>
          </a:solidFill>
          <a:ln w="12700">
            <a:solidFill>
              <a:srgbClr val="6EE7F9">
                <a:alpha val="6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0" y="39136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温度 ↑ = 更发散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温度 ↓ = 更稳定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68680" y="5760720"/>
            <a:ext cx="10378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流畅度很高 ≠ 事实一定正确。每一步都从概率分布按策略选一个 token：可以选最高，也可以采样。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· 前沿方向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RSI：AI 参与改进“造 AI 的流程”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13232" y="1261872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16736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Recursive Self-Improvement · 递归自我改进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0" y="1335024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这是研究方向，不是企业可以直接放开的“无限自我进化”。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743200"/>
            <a:ext cx="1417320" cy="1417320"/>
          </a:xfrm>
          <a:prstGeom prst="ellipse">
            <a:avLst/>
          </a:prstGeom>
          <a:solidFill>
            <a:srgbClr val="6EE7F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172968"/>
            <a:ext cx="1271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发现弱点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07008" y="3611880"/>
            <a:ext cx="1197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哪里总出错？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0" y="1847088"/>
            <a:ext cx="1417320" cy="1417320"/>
          </a:xfrm>
          <a:prstGeom prst="ellipse">
            <a:avLst/>
          </a:prstGeom>
          <a:solidFill>
            <a:srgbClr val="1B998B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30752" y="2276856"/>
            <a:ext cx="1271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提方案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67328" y="2715768"/>
            <a:ext cx="1197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生成数据 / 代码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20840" y="1847088"/>
            <a:ext cx="1417320" cy="1417320"/>
          </a:xfrm>
          <a:prstGeom prst="ellipse">
            <a:avLst/>
          </a:prstGeom>
          <a:solidFill>
            <a:srgbClr val="1A245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93992" y="2276856"/>
            <a:ext cx="1271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跑实验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30568" y="2715768"/>
            <a:ext cx="1197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在沙盒里验证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281160" y="2743200"/>
            <a:ext cx="1417320" cy="1417320"/>
          </a:xfrm>
          <a:prstGeom prst="ellipse">
            <a:avLst/>
          </a:prstGeom>
          <a:solidFill>
            <a:srgbClr val="FF7A5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3172968"/>
            <a:ext cx="1271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评估更新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90888" y="3611880"/>
            <a:ext cx="1197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指标更好才保留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14600" y="3401568"/>
            <a:ext cx="1234440" cy="-658368"/>
          </a:xfrm>
          <a:prstGeom prst="line">
            <a:avLst/>
          </a:prstGeom>
          <a:noFill/>
          <a:ln w="26670">
            <a:solidFill>
              <a:srgbClr val="1B99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074920" y="2532888"/>
            <a:ext cx="1600200" cy="0"/>
          </a:xfrm>
          <a:prstGeom prst="line">
            <a:avLst/>
          </a:prstGeom>
          <a:noFill/>
          <a:ln w="26670">
            <a:solidFill>
              <a:srgbClr val="1B998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743200"/>
            <a:ext cx="1097280" cy="658368"/>
          </a:xfrm>
          <a:prstGeom prst="line">
            <a:avLst/>
          </a:prstGeom>
          <a:noFill/>
          <a:ln w="26670">
            <a:solidFill>
              <a:srgbClr val="1B998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81160" y="4251960"/>
            <a:ext cx="-7452360" cy="0"/>
          </a:xfrm>
          <a:prstGeom prst="line">
            <a:avLst/>
          </a:prstGeom>
          <a:noFill/>
          <a:ln w="25400">
            <a:solidFill>
              <a:srgbClr val="FFC857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4343400" y="437083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85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下一轮用已通过评估的版本继续迭代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21408" y="5166360"/>
            <a:ext cx="80010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6510">
            <a:solidFill>
              <a:srgbClr val="FFC8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67712" y="5285232"/>
            <a:ext cx="7726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企业今天能借鉴的是“有界自我改进”：固定指标 + 沙盒权限 + 人审批 + 可回滚；聊天反馈不会自动改写基础模型权重。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· 局限性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的边界：会说 ≠ 说得对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280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模型越流畅，越需要把“能不能核验”写进流程。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2487168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905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084832"/>
            <a:ext cx="384048" cy="384048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17627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81328" y="20848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81328" y="24963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把猜测说成事实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66160" y="1874520"/>
            <a:ext cx="2487168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9050">
            <a:solidFill>
              <a:srgbClr val="FFC857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67328" y="2084832"/>
            <a:ext cx="384048" cy="384048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217627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5968" y="20848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过时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15968" y="24963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训练没覆盖新信息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474720"/>
            <a:ext cx="2487168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905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32688" y="3685032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77647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36850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脆弱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81328" y="40965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换个问法就失灵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66160" y="3474720"/>
            <a:ext cx="2487168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905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67328" y="3685032"/>
            <a:ext cx="384048" cy="384048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377647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15968" y="36850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偏差 / 安全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315968" y="40965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数据偏见、注入、泄漏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37960" y="1828800"/>
            <a:ext cx="4800600" cy="3566160"/>
          </a:xfrm>
          <a:prstGeom prst="roundRect">
            <a:avLst>
              <a:gd name="adj" fmla="val 3077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85432" y="21762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可靠性三角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699248" y="2788920"/>
            <a:ext cx="2560320" cy="2103120"/>
          </a:xfrm>
          <a:prstGeom prst="triangle">
            <a:avLst/>
          </a:prstGeom>
          <a:solidFill>
            <a:srgbClr val="0B1020">
              <a:alpha val="80000"/>
            </a:srgbClr>
          </a:solidFill>
          <a:ln w="15240">
            <a:solidFill>
              <a:srgbClr val="6EE7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51392" y="2971800"/>
            <a:ext cx="256032" cy="25603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18120" y="4636008"/>
            <a:ext cx="256032" cy="256032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0" y="4636008"/>
            <a:ext cx="256032" cy="25603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96528" y="2697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正确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60920" y="491947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85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122408" y="491947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成本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71232" y="356616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通常要在三者之间做取舍，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而不是同时拉满。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68680" y="57607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关键结果必须可核验、可追责：让 AI 先做草稿和分析，人保留最后判断。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· 成本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成本不是只有“买模型”：真正贵的是整条链路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29844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估算公式：调用次数 ×（输入 token×输入单价 + 输出 token×输出单价）+ 训练/微调 + 数据/集成/人工 + 错误成本。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203911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 / 微调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737360" y="1965960"/>
            <a:ext cx="2468880" cy="274320"/>
          </a:xfrm>
          <a:prstGeom prst="roundRect">
            <a:avLst>
              <a:gd name="adj" fmla="val 36667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20391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需要时才发生的算力和实验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5694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推理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737360" y="2496312"/>
            <a:ext cx="2926080" cy="274320"/>
          </a:xfrm>
          <a:prstGeom prst="roundRect">
            <a:avLst>
              <a:gd name="adj" fmla="val 36667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25694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每次调用、长上下文、并发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09981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737360" y="3026664"/>
            <a:ext cx="2240280" cy="274320"/>
          </a:xfrm>
          <a:prstGeom prst="roundRect">
            <a:avLst>
              <a:gd name="adj" fmla="val 36667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0998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清洗、标注、知识库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8680" y="363016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集成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737360" y="3557016"/>
            <a:ext cx="1920240" cy="274320"/>
          </a:xfrm>
          <a:prstGeom prst="roundRect">
            <a:avLst>
              <a:gd name="adj" fmla="val 36667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6301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权限、监控、评测、上线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8680" y="4160520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737360" y="4087368"/>
            <a:ext cx="1463040" cy="274320"/>
          </a:xfrm>
          <a:prstGeom prst="roundRect">
            <a:avLst>
              <a:gd name="adj" fmla="val 36667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41605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复核、运营、培训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469087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737360" y="4617720"/>
            <a:ext cx="2606040" cy="274320"/>
          </a:xfrm>
          <a:prstGeom prst="roundRect">
            <a:avLst>
              <a:gd name="adj" fmla="val 36667"/>
            </a:avLst>
          </a:prstGeom>
          <a:solidFill>
            <a:srgbClr val="E85D75"/>
          </a:solidFill>
          <a:ln w="12700">
            <a:solidFill>
              <a:srgbClr val="E85D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46908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返工、合规、客户损失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4400" y="52303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条形长度只是成本项示意，不代表实际占比。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965960"/>
            <a:ext cx="3154680" cy="3328416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2E6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03920" y="228600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按任务匹配工具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641080" y="2935224"/>
            <a:ext cx="164592" cy="16459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24544" y="288036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规则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92640" y="288036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稳定、便宜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641080" y="3410712"/>
            <a:ext cx="164592" cy="164592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24544" y="335584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小模型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92640" y="335584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固定、高频、低风险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641080" y="3886200"/>
            <a:ext cx="164592" cy="16459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24544" y="38313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大模型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692640" y="383133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复杂 / 不确定，先算单位成本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641080" y="4361688"/>
            <a:ext cx="164592" cy="164592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24544" y="43068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692640" y="430682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高风险、不可错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97280" y="55778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先算单位经济性，再扩张调用量。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· 场景选择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企业选场景：先看重复度，再看可控性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优先高频、可量化、可复核、数据已经存在的任务。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920240" y="1874520"/>
            <a:ext cx="8138160" cy="338328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2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89320" y="1874520"/>
            <a:ext cx="4069080" cy="1691640"/>
          </a:xfrm>
          <a:prstGeom prst="rect">
            <a:avLst/>
          </a:prstGeom>
          <a:solidFill>
            <a:srgbClr val="E8FFF5">
              <a:alpha val="90000"/>
            </a:srgbClr>
          </a:solidFill>
          <a:ln w="12700">
            <a:solidFill>
              <a:srgbClr val="E8FFF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20240" y="3566160"/>
            <a:ext cx="4069080" cy="1691640"/>
          </a:xfrm>
          <a:prstGeom prst="rect">
            <a:avLst/>
          </a:prstGeom>
          <a:solidFill>
            <a:srgbClr val="FFF6DD">
              <a:alpha val="88000"/>
            </a:srgbClr>
          </a:solidFill>
          <a:ln w="12700">
            <a:solidFill>
              <a:srgbClr val="FFF6DD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1874520"/>
            <a:ext cx="0" cy="3383280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20240" y="3566160"/>
            <a:ext cx="8138160" cy="0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8595360" y="544068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重复度高 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 rot="16200000">
            <a:off x="822960" y="257860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可控性 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63640" y="2130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绿区：可自动化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48840" y="472744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85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黄区：副驾驶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37307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5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红区：人做最终决定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46520" y="248716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542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客服草稿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92440" y="28803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2440" y="2935224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报表摘要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15000" y="27889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15000" y="2843784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知识问答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0" y="367588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3730752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采购预测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15968" y="429768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15968" y="4352544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质检初筛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35240" y="4370832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425696"/>
            <a:ext cx="1810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人事 / 财务审批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475488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4809744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对外承诺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920240" y="5742432"/>
            <a:ext cx="809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先让 AI 做副驾驶，再根据评测结果逐步放权。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 · 企业落地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落地路线：先做副驾驶，再做流程，再做系统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298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每一步都要有基线、有评测、有回滚；不要一开始就追求“全自动”。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498848"/>
            <a:ext cx="2834640" cy="658368"/>
          </a:xfrm>
          <a:prstGeom prst="roundRect">
            <a:avLst>
              <a:gd name="adj" fmla="val 18056"/>
            </a:avLst>
          </a:prstGeom>
          <a:solidFill>
            <a:srgbClr val="6EE7F9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70001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709928" y="4681728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副驾驶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43000" y="5120640"/>
            <a:ext cx="2286000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写草稿、查资料、做摘要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977640" y="3611880"/>
            <a:ext cx="2834640" cy="1545336"/>
          </a:xfrm>
          <a:prstGeom prst="roundRect">
            <a:avLst>
              <a:gd name="adj" fmla="val 7692"/>
            </a:avLst>
          </a:prstGeom>
          <a:solidFill>
            <a:srgbClr val="1B998B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381304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18888" y="37947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251960" y="4233672"/>
            <a:ext cx="2286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自动分派、校验、提醒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人保留关键节点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86600" y="2697480"/>
            <a:ext cx="2834640" cy="2459736"/>
          </a:xfrm>
          <a:prstGeom prst="roundRect">
            <a:avLst>
              <a:gd name="adj" fmla="val 4833"/>
            </a:avLst>
          </a:prstGeom>
          <a:solidFill>
            <a:srgbClr val="1A2454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289864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927848" y="28803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系统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360920" y="3319272"/>
            <a:ext cx="22860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接入业务系统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按权限行动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持续评测与审计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87552" y="5449824"/>
            <a:ext cx="8796528" cy="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24128" y="5705856"/>
            <a:ext cx="146304" cy="146304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2728" y="56509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 KPI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72968" y="5705856"/>
            <a:ext cx="146304" cy="14630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01568" y="56509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可信数据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21808" y="5705856"/>
            <a:ext cx="146304" cy="146304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50408" y="56509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离线评测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5705856"/>
            <a:ext cx="146304" cy="146304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99248" y="56509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小流量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619488" y="5705856"/>
            <a:ext cx="146304" cy="146304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48088" y="56509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99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 · 管理清单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0350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把原理变成管理动作：六个问题决定成败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818120" y="429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看懂原理 → 会算账 → 设边界 → 留人复核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617720" y="2514600"/>
            <a:ext cx="1828800" cy="1280160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73752" y="299008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项目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532120" y="3154680"/>
            <a:ext cx="-3904488" cy="-1188720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1508760"/>
            <a:ext cx="1426464" cy="896112"/>
          </a:xfrm>
          <a:prstGeom prst="roundRect">
            <a:avLst>
              <a:gd name="adj" fmla="val 12245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69164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选场景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20299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哪里最重复？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3154680"/>
            <a:ext cx="-1161288" cy="-1764792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657600" y="932688"/>
            <a:ext cx="1426464" cy="896112"/>
          </a:xfrm>
          <a:prstGeom prst="roundRect">
            <a:avLst>
              <a:gd name="adj" fmla="val 1224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1155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给数据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30752" y="145389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它凭什么知道？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532120" y="3154680"/>
            <a:ext cx="2724912" cy="-1764792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932688"/>
            <a:ext cx="1426464" cy="896112"/>
          </a:xfrm>
          <a:prstGeom prst="roundRect">
            <a:avLst>
              <a:gd name="adj" fmla="val 12245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3528" y="11155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设护栏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16952" y="145389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哪些事不能做？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532120" y="3154680"/>
            <a:ext cx="4507992" cy="548640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26880" y="3246120"/>
            <a:ext cx="1426464" cy="896112"/>
          </a:xfrm>
          <a:prstGeom prst="roundRect">
            <a:avLst>
              <a:gd name="adj" fmla="val 12245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36608" y="342900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算 ROI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0032" y="37673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省下的钱够不够？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32120" y="3154680"/>
            <a:ext cx="2450592" cy="1920240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269480" y="4617720"/>
            <a:ext cx="1426464" cy="896112"/>
          </a:xfrm>
          <a:prstGeom prst="roundRect">
            <a:avLst>
              <a:gd name="adj" fmla="val 12245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79208" y="480060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留人工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42632" y="51389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错了谁发现？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32120" y="3154680"/>
            <a:ext cx="-2898648" cy="1920240"/>
          </a:xfrm>
          <a:prstGeom prst="line">
            <a:avLst/>
          </a:prstGeom>
          <a:noFill/>
          <a:ln w="13970">
            <a:solidFill>
              <a:srgbClr val="D6E2E6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920240" y="4617720"/>
            <a:ext cx="1426464" cy="896112"/>
          </a:xfrm>
          <a:prstGeom prst="roundRect">
            <a:avLst>
              <a:gd name="adj" fmla="val 12245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29968" y="480060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复盘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993392" y="51389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数据如何变好？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88720" y="591616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5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把“理解原理”翻译成流程：每个 AI 项目都要能回答这六个问题。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中心思想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5806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 AI 放在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“可验证的工位”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58952" y="3090672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懂原理 → 会算账 → 设边界 → 留人复核 → 持续迭代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995160" y="1097280"/>
            <a:ext cx="4114800" cy="932688"/>
          </a:xfrm>
          <a:prstGeom prst="roundRect">
            <a:avLst>
              <a:gd name="adj" fmla="val 11765"/>
            </a:avLst>
          </a:prstGeom>
          <a:solidFill>
            <a:srgbClr val="1A2454"/>
          </a:solidFill>
          <a:ln w="17780">
            <a:solidFill>
              <a:srgbClr val="6EE7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51192" y="1353312"/>
            <a:ext cx="384048" cy="384048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51192" y="143560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18120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它凭什么知道？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818120" y="16550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数据和上下文是否可信？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995160" y="2423160"/>
            <a:ext cx="4114800" cy="932688"/>
          </a:xfrm>
          <a:prstGeom prst="roundRect">
            <a:avLst>
              <a:gd name="adj" fmla="val 11765"/>
            </a:avLst>
          </a:prstGeom>
          <a:solidFill>
            <a:srgbClr val="1A2454"/>
          </a:solidFill>
          <a:ln w="17780">
            <a:solidFill>
              <a:srgbClr val="FFC8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51192" y="2679192"/>
            <a:ext cx="384048" cy="384048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51192" y="276148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818120" y="26060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错了谁发现？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818120" y="29809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有没有评测、复核和回滚？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995160" y="3749040"/>
            <a:ext cx="4114800" cy="932688"/>
          </a:xfrm>
          <a:prstGeom prst="roundRect">
            <a:avLst>
              <a:gd name="adj" fmla="val 11765"/>
            </a:avLst>
          </a:prstGeom>
          <a:solidFill>
            <a:srgbClr val="1A2454"/>
          </a:solidFill>
          <a:ln w="17780">
            <a:solidFill>
              <a:srgbClr val="FF7A5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51192" y="4005072"/>
            <a:ext cx="384048" cy="384048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51192" y="408736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18120" y="393192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省下的钱够吗？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818120" y="430682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单位成本是否小于业务价值？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58952" y="498348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是概率引擎和放大器，不是责任承担者。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企业竞争力来自“数据 + 流程 + 评测 + 人”的闭环。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58952" y="6126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谢谢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5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AI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看懂 AI，才能用好 AI</dc:title>
  <dc:subject>用最通俗的方式理解 AI 原理与企业落地</dc:subject>
  <dc:creator>OpenAI</dc:creator>
  <cp:lastModifiedBy>OpenAI</cp:lastModifiedBy>
  <cp:revision>1</cp:revision>
  <dcterms:created xsi:type="dcterms:W3CDTF">2026-10-12T16:07:04Z</dcterms:created>
  <dcterms:modified xsi:type="dcterms:W3CDTF">2026-10-12T16:07:04Z</dcterms:modified>
</cp:coreProperties>
</file>