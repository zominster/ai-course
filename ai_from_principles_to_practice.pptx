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开场先给路线：先理解模型怎样算，再理解它怎样学，最后看为什么还需要工具、评估和 RSI。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这页把训练和推理放在同一张图中。训练是“预测—比较—更新”的反馈回路；推理是参数固定后，给新输入做一次前向计算。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把公式落到一个数值过程：输入乘权重、加总、经过 ReLU。激活函数提供折点，让多层网络能够表达弯曲的关系。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重点讲清用户要求的结论：网络结构来自对现实规律的总结。人类视觉先看局部，再组合整体；CNN 用局部感受野、共享卷积核、池化和逐层特征组合来实现类似的计算偏置。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这一页作为上一页的“工程流水线”补充。让听众看到结构里的每个部件为什么存在，而不是只记住 CNN 三个字。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点击节奏：先出现句子，再强调“它”，最后出现权重和 Q/K/V。注意力不是人工写好的语法表，而是模型通过训练学会的匹配计算。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Transformer 不是只有注意力。完整一层还包括位置处理、残差、归一化和前馈网络。用这一页把部件关系讲完整。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用户要求讲清 GPT 相对于 Transformer 的进步。要避免说成“GPT 改进了注意力公式”：Transformer 是架构家族，GPT 的关键贡献是采用 decoder-only 因果生成结构，并配合 next-token 预训练、规模化训练和后续对齐，做成可通用的生成模型路线。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GPT 生成不是一次性写完整答案，而是每步预测一个 token，再把它追加到上下文。可以点击逐步讲解；本页的条形是教学示意，不是实际模型输出。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这一页把上下文限制拆成四个独立原因。FlashAttention 可以优化内存访问，但不会让标准稠密注意力的配对计算、KV cache 和有效利用问题消失。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RSI 前先讲为什么需要它：模型静态、人工试错慢、上下文和实验历史有限、评估不容易。RSI 试图把发现问题、提出改动、实验和筛选纳入持续循环。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点击节奏：四个节点依次出现，再出现回路和护栏。RSI 是工程闭环，不是一个新的神经网络层。改进对象可以是代理代码、工具、数据、模型参数或改进策略，必须说明具体改了哪一层。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 Transformer 的限制和 RSI 的限制分开，避免“加一个自我改进循环就解决所有问题”的误解。尤其强调固定基础模型的 RSI 可以提高工作流，但不会自动改变窗口或模型权重。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收尾回到三个问题：它凭什么知道？错了谁发现？省下的钱够吗？理解原理的目的，是把 AI 放到可验证、可追责、可迭代的工位。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看懂 AI，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才能用好 AI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58952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E7F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从神经网络、Transformer、GPT 到 RSI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58952" y="32461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AI 不是魔法，是一套从例子里调参数，再对新输入做计算的系统。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66560" y="2011680"/>
            <a:ext cx="1371600" cy="1417320"/>
          </a:xfrm>
          <a:prstGeom prst="roundRect">
            <a:avLst>
              <a:gd name="adj" fmla="val 6667"/>
            </a:avLst>
          </a:prstGeom>
          <a:solidFill>
            <a:srgbClr val="1A2454"/>
          </a:solidFill>
          <a:ln w="19050">
            <a:solidFill>
              <a:srgbClr val="6EE7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78624" y="2267712"/>
            <a:ext cx="347472" cy="347472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2743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输入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0" y="30906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图片 / 文字 / 数据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211312" y="2606040"/>
            <a:ext cx="347472" cy="237744"/>
          </a:xfrm>
          <a:prstGeom prst="chevron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41080" y="2011680"/>
            <a:ext cx="1371600" cy="1417320"/>
          </a:xfrm>
          <a:prstGeom prst="roundRect">
            <a:avLst>
              <a:gd name="adj" fmla="val 6667"/>
            </a:avLst>
          </a:prstGeom>
          <a:solidFill>
            <a:srgbClr val="1A2454"/>
          </a:solidFill>
          <a:ln w="19050">
            <a:solidFill>
              <a:srgbClr val="1B99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53144" y="226771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0" y="2743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模型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732520" y="30906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参数 + 计算结构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085832" y="2606040"/>
            <a:ext cx="347472" cy="237744"/>
          </a:xfrm>
          <a:prstGeom prst="chevron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0" y="2011680"/>
            <a:ext cx="1371600" cy="1417320"/>
          </a:xfrm>
          <a:prstGeom prst="roundRect">
            <a:avLst>
              <a:gd name="adj" fmla="val 6667"/>
            </a:avLst>
          </a:prstGeom>
          <a:solidFill>
            <a:srgbClr val="1A2454"/>
          </a:solidFill>
          <a:ln w="19050">
            <a:solidFill>
              <a:srgbClr val="FF7A5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27664" y="2267712"/>
            <a:ext cx="347472" cy="347472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52760" y="2743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输出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607040" y="30906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预测 / 生成 / 动作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12280" y="416052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E7F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训练：调整参数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416052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推理：使用参数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61320" y="416052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7A5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复核：检查结果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01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01 · 训练与推理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12B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AI 的核心：先找到一组参数，再用它处理新输入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1B99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把模型写成一个函数：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834640" y="124358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1A2454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ŷ = f(x; θ)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5212080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20320">
            <a:solidFill>
              <a:srgbClr val="6EE7F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05840" y="2267712"/>
            <a:ext cx="1371600" cy="283464"/>
          </a:xfrm>
          <a:prstGeom prst="roundRect">
            <a:avLst>
              <a:gd name="adj" fmla="val 48387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313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训练：参数会变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24128" y="2871216"/>
            <a:ext cx="338328" cy="338328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935224"/>
            <a:ext cx="338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27048" y="288036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输入 + 答案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27048" y="31363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看历史样本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024128" y="3611880"/>
            <a:ext cx="338328" cy="33832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" y="3675888"/>
            <a:ext cx="338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27048" y="362102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预测与答案比较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27048" y="387705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计算损失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24128" y="4352544"/>
            <a:ext cx="338328" cy="338328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416552"/>
            <a:ext cx="338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527048" y="436168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反向传播更新 θ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46177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让错误变小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188720" y="4864608"/>
            <a:ext cx="4023360" cy="0"/>
          </a:xfrm>
          <a:prstGeom prst="line">
            <a:avLst/>
          </a:prstGeom>
          <a:noFill/>
          <a:ln w="25400">
            <a:solidFill>
              <a:srgbClr val="FFC857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743200" y="49560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857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训练是一条反馈回路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1965960"/>
            <a:ext cx="5212080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2032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37960" y="2267712"/>
            <a:ext cx="1572768" cy="283464"/>
          </a:xfrm>
          <a:prstGeom prst="roundRect">
            <a:avLst>
              <a:gd name="adj" fmla="val 48387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2313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推理：参数通常不变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65392" y="3063240"/>
            <a:ext cx="1234440" cy="713232"/>
          </a:xfrm>
          <a:prstGeom prst="roundRect">
            <a:avLst>
              <a:gd name="adj" fmla="val 12821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331012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新输入 x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01000" y="3310128"/>
            <a:ext cx="411480" cy="256032"/>
          </a:xfrm>
          <a:prstGeom prst="chevron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49640" y="2926080"/>
            <a:ext cx="1417320" cy="987552"/>
          </a:xfrm>
          <a:prstGeom prst="roundRect">
            <a:avLst>
              <a:gd name="adj" fmla="val 9259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49640" y="323697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fθ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10149840" y="3310128"/>
            <a:ext cx="411480" cy="256032"/>
          </a:xfrm>
          <a:prstGeom prst="chevron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98480" y="306324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98480" y="331012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ŷ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583680" y="4434840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推理是在代入公式，不是在现场重新训练。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02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02 · 神经网络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12B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一个神经元：先混合线索，再决定是否放行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1B99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5448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6E2E6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8288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具体算一遍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25856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z = 0.8x₁ + 0.1x₂ − 0.4x₃ + b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60120" y="2862072"/>
            <a:ext cx="1600200" cy="283464"/>
          </a:xfrm>
          <a:prstGeom prst="roundRect">
            <a:avLst>
              <a:gd name="adj" fmla="val 48387"/>
            </a:avLst>
          </a:prstGeom>
          <a:solidFill>
            <a:srgbClr val="EEF5F5"/>
          </a:solidFill>
          <a:ln w="12700">
            <a:solidFill>
              <a:srgbClr val="EE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90779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客户说“太贵”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43200" y="291693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x₁ = 1.0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86200" y="291693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EE7F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× 0.8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3429000"/>
            <a:ext cx="1600200" cy="283464"/>
          </a:xfrm>
          <a:prstGeom prst="roundRect">
            <a:avLst>
              <a:gd name="adj" fmla="val 48387"/>
            </a:avLst>
          </a:prstGeom>
          <a:solidFill>
            <a:srgbClr val="EEF5F5"/>
          </a:solidFill>
          <a:ln w="12700">
            <a:solidFill>
              <a:srgbClr val="EEF5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4747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近 30 天退货率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0" y="348386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x₂ = 0.5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86200" y="348386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× 0.1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0120" y="3995928"/>
            <a:ext cx="1600200" cy="283464"/>
          </a:xfrm>
          <a:prstGeom prst="roundRect">
            <a:avLst>
              <a:gd name="adj" fmla="val 48387"/>
            </a:avLst>
          </a:prstGeom>
          <a:solidFill>
            <a:srgbClr val="EEF5F5"/>
          </a:solidFill>
          <a:ln w="12700">
            <a:solidFill>
              <a:srgbClr val="EEF5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04164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季节因素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743200" y="40507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x₃ = 0.2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86200" y="40507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A5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× −0.4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47365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z = 0.8 + 0.05 − 0.08 + b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0120" y="5120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7A5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ReLU(z) = max(0, z)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92240" y="1554480"/>
            <a:ext cx="498348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766560" y="1828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为什么需要激活函数？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78040" y="4892040"/>
            <a:ext cx="3703320" cy="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8732520" y="5257800"/>
            <a:ext cx="0" cy="-2560320"/>
          </a:xfrm>
          <a:prstGeom prst="line">
            <a:avLst/>
          </a:prstGeom>
          <a:noFill/>
          <a:ln w="15240">
            <a:solidFill>
              <a:srgbClr val="D6E2E6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406640" y="4892040"/>
            <a:ext cx="1325880" cy="0"/>
          </a:xfrm>
          <a:prstGeom prst="line">
            <a:avLst/>
          </a:prstGeom>
          <a:noFill/>
          <a:ln w="44450">
            <a:solidFill>
              <a:srgbClr val="FF7A59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32520" y="4892040"/>
            <a:ext cx="1554480" cy="-2011680"/>
          </a:xfrm>
          <a:prstGeom prst="line">
            <a:avLst/>
          </a:prstGeom>
          <a:noFill/>
          <a:ln w="44450">
            <a:solidFill>
              <a:srgbClr val="1B998B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7040880" y="50749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A5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z &lt; 0：输出 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27432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z &gt; 0：原样放行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39712" y="548640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没有非线性，多层线性计算仍可合并成一层。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03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03 · 网络结构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12B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卷积网络：把“人看局部线索”总结成结构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1B99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89888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人看一张图时，不需要同时处理每个像素；先找局部线索，再把线索组合成整体。卷积网络把这个现象写进了结构。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" y="1993392"/>
            <a:ext cx="2926080" cy="34290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9050">
            <a:solidFill>
              <a:srgbClr val="6EE7F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26771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人类视觉：先看一小块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70432" y="2816352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1328" y="2816352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92224" y="2816352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2816352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14016" y="2816352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24912" y="2816352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35808" y="2816352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70432" y="3127248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1328" y="3127248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92224" y="3127248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03120" y="3127248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14016" y="3127248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24912" y="3127248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5808" y="3127248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70432" y="3438144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1328" y="3438144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92224" y="3438144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03120" y="3438144"/>
            <a:ext cx="301752" cy="301752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14016" y="3438144"/>
            <a:ext cx="301752" cy="301752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24912" y="3438144"/>
            <a:ext cx="301752" cy="301752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3438144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70432" y="3749040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81328" y="3749040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92224" y="3749040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03120" y="3749040"/>
            <a:ext cx="301752" cy="301752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14016" y="3749040"/>
            <a:ext cx="301752" cy="301752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24912" y="3749040"/>
            <a:ext cx="301752" cy="301752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5808" y="3749040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70432" y="4059936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481328" y="4059936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92224" y="4059936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03120" y="4059936"/>
            <a:ext cx="301752" cy="301752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14016" y="4059936"/>
            <a:ext cx="301752" cy="301752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24912" y="4059936"/>
            <a:ext cx="301752" cy="301752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35808" y="4059936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70432" y="4370832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81328" y="4370832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92224" y="4370832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03120" y="4370832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414016" y="4370832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724912" y="4370832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35808" y="4370832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170432" y="4681728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481328" y="4681728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792224" y="4681728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103120" y="4681728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14016" y="4681728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24912" y="4681728"/>
            <a:ext cx="301752" cy="301752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035808" y="4681728"/>
            <a:ext cx="301752" cy="301752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4300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5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局部感受野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3913632" y="3474720"/>
            <a:ext cx="438912" cy="292608"/>
          </a:xfrm>
          <a:prstGeom prst="chevron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80560" y="1993392"/>
            <a:ext cx="3063240" cy="34290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9050">
            <a:solidFill>
              <a:srgbClr val="1B998B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4754880" y="226771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工程化结构：卷积核扫描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892040" y="2862072"/>
            <a:ext cx="292608" cy="292608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93792" y="2862072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95544" y="2862072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97296" y="2862072"/>
            <a:ext cx="292608" cy="292608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099048" y="2862072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892040" y="3163824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193792" y="3163824"/>
            <a:ext cx="292608" cy="292608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95544" y="3163824"/>
            <a:ext cx="292608" cy="292608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797296" y="3163824"/>
            <a:ext cx="292608" cy="292608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099048" y="3163824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892040" y="3465576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193792" y="3465576"/>
            <a:ext cx="292608" cy="292608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95544" y="3465576"/>
            <a:ext cx="292608" cy="292608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797296" y="3465576"/>
            <a:ext cx="292608" cy="292608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99048" y="3465576"/>
            <a:ext cx="292608" cy="292608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892040" y="3767328"/>
            <a:ext cx="292608" cy="292608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193792" y="3767328"/>
            <a:ext cx="292608" cy="292608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495544" y="3767328"/>
            <a:ext cx="292608" cy="292608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797296" y="3767328"/>
            <a:ext cx="292608" cy="292608"/>
          </a:xfrm>
          <a:prstGeom prst="rect">
            <a:avLst/>
          </a:prstGeom>
          <a:solidFill>
            <a:srgbClr val="FF7A59"/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99048" y="3767328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892040" y="4069080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193792" y="4069080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495544" y="4069080"/>
            <a:ext cx="292608" cy="292608"/>
          </a:xfrm>
          <a:prstGeom prst="rect">
            <a:avLst/>
          </a:prstGeom>
          <a:solidFill>
            <a:srgbClr val="6EE7F9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797296" y="4069080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099048" y="4069080"/>
            <a:ext cx="292608" cy="292608"/>
          </a:xfrm>
          <a:prstGeom prst="rect">
            <a:avLst/>
          </a:prstGeom>
          <a:solidFill>
            <a:srgbClr val="E8EFF2">
              <a:alpha val="82000"/>
            </a:srgbClr>
          </a:solidFill>
          <a:ln w="635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736592" y="4919472"/>
            <a:ext cx="2606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3×3 小窗口反复共享同一组权重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7818120" y="3474720"/>
            <a:ext cx="438912" cy="292608"/>
          </a:xfrm>
          <a:prstGeom prst="chevron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394192" y="1993392"/>
            <a:ext cx="3108960" cy="34290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89" name="Text 87"/>
          <p:cNvSpPr/>
          <p:nvPr/>
        </p:nvSpPr>
        <p:spPr>
          <a:xfrm>
            <a:off x="8668512" y="22677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逐层组合：从边缘到整体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8732520" y="2834640"/>
            <a:ext cx="1097280" cy="283464"/>
          </a:xfrm>
          <a:prstGeom prst="roundRect">
            <a:avLst>
              <a:gd name="adj" fmla="val 48387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732520" y="2880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边缘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9966960" y="2907792"/>
            <a:ext cx="256032" cy="164592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878824" y="3337560"/>
            <a:ext cx="1325880" cy="283464"/>
          </a:xfrm>
          <a:prstGeom prst="roundRect">
            <a:avLst>
              <a:gd name="adj" fmla="val 48387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78824" y="338328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角点 / 纹理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10113264" y="3410712"/>
            <a:ext cx="256032" cy="164592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025128" y="3840480"/>
            <a:ext cx="1554480" cy="283464"/>
          </a:xfrm>
          <a:prstGeom prst="roundRect">
            <a:avLst>
              <a:gd name="adj" fmla="val 48387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025128" y="3886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眼睛 / 轮廓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10259568" y="3913632"/>
            <a:ext cx="256032" cy="164592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171432" y="4343400"/>
            <a:ext cx="1783080" cy="283464"/>
          </a:xfrm>
          <a:prstGeom prst="roundRect">
            <a:avLst>
              <a:gd name="adj" fmla="val 48387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171432" y="43891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物体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1874520" y="58064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结论：结构不是凭空发明，而是对现实现象的工程化总结。</a:t>
            </a:r>
            <a:endParaRPr lang="en-US" sz="1600" dirty="0"/>
          </a:p>
        </p:txBody>
      </p:sp>
      <p:sp>
        <p:nvSpPr>
          <p:cNvPr id="102" name="Text 100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04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04 · 从现象到实现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12B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卷积网络怎样一步步把图片变成分类结果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1B99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1874520" cy="2057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6EE7F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99032" y="2423160"/>
            <a:ext cx="347472" cy="347472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99032" y="249631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971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28×28 图片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34930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原始像素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578608" y="3063240"/>
            <a:ext cx="274320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2148840"/>
            <a:ext cx="1874520" cy="2057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1B998B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85032" y="2423160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032" y="249631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63240" y="2971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3×3 卷积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090672" y="34930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识别局部边缘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64608" y="3063240"/>
            <a:ext cx="274320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12080" y="2148840"/>
            <a:ext cx="1874520" cy="2057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71032" y="2423160"/>
            <a:ext cx="347472" cy="347472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71032" y="249631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49240" y="2971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特征图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376672" y="34930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边缘位置保留下来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50608" y="3063240"/>
            <a:ext cx="274320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2148840"/>
            <a:ext cx="1874520" cy="2057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FFC857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57032" y="2423160"/>
            <a:ext cx="347472" cy="347472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57032" y="249631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35240" y="2971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池化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62672" y="34930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压缩尺寸，保留强信号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36608" y="3063240"/>
            <a:ext cx="274320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84080" y="2148840"/>
            <a:ext cx="1874520" cy="2057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543032" y="2423160"/>
            <a:ext cx="347472" cy="347472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43032" y="249631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921240" y="29718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全连接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948672" y="34930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综合线索做分类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337560" y="493776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局部 → 组合 → 压缩 → 判断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14400" y="5669280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不同任务采用不同结构：图像常利用空间局部性；文本需要处理序列和远距离关系。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05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6EE7F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05 · 注意力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Transformer：让每个词计算“我该参考谁”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6EE7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37160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句子：小明把书放进抽屉，因为它太重。这里“它”需要回看上下文。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A2454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86000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小明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01368" y="214884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A2454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01368" y="2286000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把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34056" y="214884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A2454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34056" y="2286000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书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66744" y="214884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A2454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66744" y="2286000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放进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99432" y="214884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A2454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2286000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抽屉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532120" y="214884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A2454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286000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因为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64808" y="214884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64808" y="2286000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它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97496" y="214884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A2454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97496" y="2286000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太重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3952" y="2761488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7A5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“它”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00600" y="31546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0" y="3209544"/>
            <a:ext cx="1632204" cy="146304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83880" y="31546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A5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0.70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00600" y="35387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抽屉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0" y="3593592"/>
            <a:ext cx="279806" cy="146304"/>
          </a:xfrm>
          <a:prstGeom prst="roundRect">
            <a:avLst>
              <a:gd name="adj" fmla="val 50000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83880" y="35387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C857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0.12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00600" y="392277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太重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0" y="3977640"/>
            <a:ext cx="233172" cy="146304"/>
          </a:xfrm>
          <a:prstGeom prst="roundRect">
            <a:avLst>
              <a:gd name="adj" fmla="val 50000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39227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EE7F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0.10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00600" y="430682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其他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669280" y="4361688"/>
            <a:ext cx="186538" cy="146304"/>
          </a:xfrm>
          <a:prstGeom prst="roundRect">
            <a:avLst>
              <a:gd name="adj" fmla="val 50000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83880" y="430682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0.08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69680" y="2871216"/>
            <a:ext cx="2514600" cy="1600200"/>
          </a:xfrm>
          <a:prstGeom prst="roundRect">
            <a:avLst>
              <a:gd name="adj" fmla="val 5714"/>
            </a:avLst>
          </a:prstGeom>
          <a:solidFill>
            <a:srgbClr val="1A2454"/>
          </a:solidFill>
          <a:ln w="15240">
            <a:solidFill>
              <a:srgbClr val="6EE7F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98280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EE7F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Q · 我在找什么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98280" y="34930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K · 谁最匹配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098280" y="38587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A5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V · 带来什么信息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05840" y="52120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857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Q 与 K 打分 → softmax 变成比例 → 按比例汇总 V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06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06 · 架构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12B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Transformer 的一层：先交换信息，再加工表示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1B99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057400"/>
            <a:ext cx="19019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EE7F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08176" y="2331720"/>
            <a:ext cx="347472" cy="347472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24048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86384" y="2889504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token + 位置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35584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顺序信息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587752" y="2788920"/>
            <a:ext cx="274320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2057400"/>
            <a:ext cx="19019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B998B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94176" y="2331720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94176" y="24048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72384" y="2889504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多头注意力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63240" y="335584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跨位置交换信息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73752" y="2788920"/>
            <a:ext cx="274320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12080" y="2057400"/>
            <a:ext cx="19019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80176" y="2331720"/>
            <a:ext cx="347472" cy="347472"/>
          </a:xfrm>
          <a:prstGeom prst="ellipse">
            <a:avLst/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0176" y="24048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58384" y="2889504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残差 + 归一化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49240" y="335584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保留并稳定信号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59752" y="2788920"/>
            <a:ext cx="274320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2057400"/>
            <a:ext cx="19019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66176" y="2331720"/>
            <a:ext cx="347472" cy="347472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24048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44384" y="2889504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前馈网络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35240" y="335584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逐位置非线性加工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45752" y="2788920"/>
            <a:ext cx="274320" cy="201168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84080" y="2057400"/>
            <a:ext cx="19019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FC857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552176" y="2331720"/>
            <a:ext cx="347472" cy="347472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52176" y="24048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930384" y="2889504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重复多层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921240" y="335584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形成上下文表示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057400" y="4709160"/>
            <a:ext cx="8092440" cy="713232"/>
          </a:xfrm>
          <a:prstGeom prst="roundRect">
            <a:avLst>
              <a:gd name="adj" fmla="val 12821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331720" y="4946904"/>
            <a:ext cx="754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注意力负责“位置之间互相看”，FFN 负责“每个位置自己加工”。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05840" y="580644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训练时可以并行处理已知序列；生成时仍要一个 token 接一个 token。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07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07 · GPT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12B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GPT 相对 Transformer：进步主要在“选择 + 训练 + 规模化”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1B99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00200"/>
            <a:ext cx="502920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6E2E6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1901952"/>
            <a:ext cx="1828800" cy="283464"/>
          </a:xfrm>
          <a:prstGeom prst="roundRect">
            <a:avLst>
              <a:gd name="adj" fmla="val 48387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476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Transformer：架构家族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606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结构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26060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可以是编码器、解码器，或两者组合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326440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注意力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28800" y="326440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让位置之间交换上下文信息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392277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原始论文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28800" y="3922776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主要验证序列转换与机器翻译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55080" y="160020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29400" y="1901952"/>
            <a:ext cx="1783080" cy="283464"/>
          </a:xfrm>
          <a:prstGeom prst="roundRect">
            <a:avLst>
              <a:gd name="adj" fmla="val 48387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194767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GPT：一套生成式配方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56832" y="2596896"/>
            <a:ext cx="164592" cy="164592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95160" y="2542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结构选择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183880" y="25420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decoder-only + causal mask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56832" y="3191256"/>
            <a:ext cx="164592" cy="16459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3136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训练目标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183880" y="313639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大规模 next-token prediction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656832" y="3785616"/>
            <a:ext cx="164592" cy="164592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37307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工程放大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183880" y="373075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数据、参数、算力和并行训练一起扩展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656832" y="4379976"/>
            <a:ext cx="164592" cy="164592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4325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对齐产品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183880" y="432511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指令训练、偏好反馈、工具与对话状态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87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准确说：GPT 不是“发明了另一种注意力”，而是把 Transformer 的生成子结构与预训练、规模化和对齐组合成了可泛化的语言模型路线。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08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08 · 自回归生成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12B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GPT 怎样生成一段话：每一步都只决定下一个 token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1B99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087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提示词：客户投诉鞋底开胶，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68680" y="2057400"/>
            <a:ext cx="960120" cy="548640"/>
          </a:xfrm>
          <a:prstGeom prst="roundRect">
            <a:avLst>
              <a:gd name="adj" fmla="val 16667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402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建议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874520" y="2240280"/>
            <a:ext cx="246888" cy="182880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75688" y="2057400"/>
            <a:ext cx="960120" cy="548640"/>
          </a:xfrm>
          <a:prstGeom prst="roundRect">
            <a:avLst>
              <a:gd name="adj" fmla="val 16667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75688" y="22402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先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081528" y="2240280"/>
            <a:ext cx="246888" cy="182880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82696" y="2057400"/>
            <a:ext cx="960120" cy="548640"/>
          </a:xfrm>
          <a:prstGeom prst="roundRect">
            <a:avLst>
              <a:gd name="adj" fmla="val 16667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82696" y="22402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拍照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88536" y="2240280"/>
            <a:ext cx="246888" cy="182880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89704" y="2057400"/>
            <a:ext cx="960120" cy="548640"/>
          </a:xfrm>
          <a:prstGeom prst="roundRect">
            <a:avLst>
              <a:gd name="adj" fmla="val 16667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9704" y="22402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并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95544" y="2240280"/>
            <a:ext cx="246888" cy="182880"/>
          </a:xfrm>
          <a:prstGeom prst="chevron">
            <a:avLst/>
          </a:prstGeom>
          <a:solidFill>
            <a:srgbClr val="D6E2E6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96712" y="2057400"/>
            <a:ext cx="960120" cy="548640"/>
          </a:xfrm>
          <a:prstGeom prst="roundRect">
            <a:avLst>
              <a:gd name="adj" fmla="val 16667"/>
            </a:avLst>
          </a:prstGeom>
          <a:solidFill>
            <a:srgbClr val="EEF5F5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96712" y="22402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保留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68680" y="28803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当前前缀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25880" y="3273552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建议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057400" y="3328416"/>
            <a:ext cx="2926080" cy="155448"/>
          </a:xfrm>
          <a:prstGeom prst="roundRect">
            <a:avLst>
              <a:gd name="adj" fmla="val 4705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0" y="32735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42%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325880" y="365760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联系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57400" y="3712464"/>
            <a:ext cx="1950720" cy="155448"/>
          </a:xfrm>
          <a:prstGeom prst="roundRect">
            <a:avLst>
              <a:gd name="adj" fmla="val 47059"/>
            </a:avLst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0" y="3657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EE7F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28%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325880" y="4041648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直接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057400" y="4096512"/>
            <a:ext cx="1114697" cy="155448"/>
          </a:xfrm>
          <a:prstGeom prst="roundRect">
            <a:avLst>
              <a:gd name="adj" fmla="val 47059"/>
            </a:avLst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0" y="404164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C857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16%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325880" y="4425696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其他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057400" y="4480560"/>
            <a:ext cx="975360" cy="155448"/>
          </a:xfrm>
          <a:prstGeom prst="roundRect">
            <a:avLst>
              <a:gd name="adj" fmla="val 47059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12080" y="442569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A5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14%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629400" y="1508760"/>
            <a:ext cx="4754880" cy="3611880"/>
          </a:xfrm>
          <a:prstGeom prst="roundRect">
            <a:avLst>
              <a:gd name="adj" fmla="val 2532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31152" y="1828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E7F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一次生成的真实过程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967728" y="2514600"/>
            <a:ext cx="237744" cy="237744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67728" y="2560320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0920" y="2487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处理提示词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549640" y="248716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token → embedding → Transformer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967728" y="3081528"/>
            <a:ext cx="237744" cy="23774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67728" y="3127248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360920" y="305409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选择下一个 token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549640" y="305409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贪心、采样、温度等策略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967728" y="3648456"/>
            <a:ext cx="237744" cy="237744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67728" y="3694176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360920" y="362102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追加到上下文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549640" y="362102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把“建议”放回输入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67728" y="4215384"/>
            <a:ext cx="237744" cy="237744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67728" y="4261104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4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360920" y="41879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继续下一步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549640" y="418795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直到结束或达到长度限制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914400" y="5650992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上下文是“这次能直接参考的桌面”，参数是长期训练得到的能力。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09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6EE7F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09 · TRANSFORMER 局限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上下文窗口为什么有限：算力、缓存、位置和有效利用都在约束它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6EE7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91640"/>
            <a:ext cx="4983480" cy="1508760"/>
          </a:xfrm>
          <a:prstGeom prst="roundRect">
            <a:avLst>
              <a:gd name="adj" fmla="val 6061"/>
            </a:avLst>
          </a:prstGeom>
          <a:solidFill>
            <a:srgbClr val="1A2454"/>
          </a:solidFill>
          <a:ln w="16510">
            <a:solidFill>
              <a:srgbClr val="FF7A5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984248"/>
            <a:ext cx="329184" cy="329184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5740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536192" y="19019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注意力计算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36192" y="235000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n 个 token 的全注意力约有 n² 个位置配对。长度翻倍，配对约变四倍。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691640"/>
            <a:ext cx="4983480" cy="1508760"/>
          </a:xfrm>
          <a:prstGeom prst="roundRect">
            <a:avLst>
              <a:gd name="adj" fmla="val 6061"/>
            </a:avLst>
          </a:prstGeom>
          <a:solidFill>
            <a:srgbClr val="1A2454"/>
          </a:solidFill>
          <a:ln w="16510">
            <a:solidFill>
              <a:srgbClr val="FFC8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29400" y="1984248"/>
            <a:ext cx="329184" cy="329184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05740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59752" y="19019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KV cache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59752" y="235000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历史 K/V 会复用，但 token 越长，缓存越大；生成每一步仍要访问历史。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4983480" cy="1508760"/>
          </a:xfrm>
          <a:prstGeom prst="roundRect">
            <a:avLst>
              <a:gd name="adj" fmla="val 6061"/>
            </a:avLst>
          </a:prstGeom>
          <a:solidFill>
            <a:srgbClr val="1A2454"/>
          </a:solidFill>
          <a:ln w="16510">
            <a:solidFill>
              <a:srgbClr val="6EE7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950208"/>
            <a:ext cx="329184" cy="329184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02336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36192" y="386791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位置泛化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36192" y="431596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能算出更远的位置，不代表模型训练过这种距离，更不代表一定用得好。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55080" y="3657600"/>
            <a:ext cx="4983480" cy="1508760"/>
          </a:xfrm>
          <a:prstGeom prst="roundRect">
            <a:avLst>
              <a:gd name="adj" fmla="val 6061"/>
            </a:avLst>
          </a:prstGeom>
          <a:solidFill>
            <a:srgbClr val="1A2454"/>
          </a:solidFill>
          <a:ln w="16510">
            <a:solidFill>
              <a:srgbClr val="34D39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29400" y="3950208"/>
            <a:ext cx="329184" cy="32918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402336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159752" y="386791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有效利用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59752" y="431596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资料放进窗口后，模型仍可能漏掉中间证据、多个条件或远处关系。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4400" y="58978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C857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“支持更长输入”不等于“无限记忆”，也不等于“所有证据都能可靠综合”。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10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10 · RSI 的动机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12B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为什么需要 RSI：单次改进太慢，人工试错无法覆盖所有环节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1B99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26464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0212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先看痛点，再看闭环。RSI 是对迭代瓶颈的工程回应。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7780">
            <a:solidFill>
              <a:srgbClr val="FF7A5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29514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模型参数静态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6243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训练结束后，系统不会因为一次失败自动重写自己。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977640" y="214884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7780">
            <a:solidFill>
              <a:srgbClr val="FFC857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60520" y="229514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人工迭代慢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60520" y="26243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数据、提示、代码、评测常由人逐项试错。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347472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7780">
            <a:solidFill>
              <a:srgbClr val="6EE7F9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621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历史越来越长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95020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实验记录在外部，但每次能读到的上下文有限。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77640" y="347472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7780">
            <a:solidFill>
              <a:srgbClr val="1B998B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60520" y="3621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改进难以验证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60520" y="395020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一个分数变好，不代表真实任务和旧能力都变好。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720840" y="3310128"/>
            <a:ext cx="548640" cy="320040"/>
          </a:xfrm>
          <a:prstGeom prst="chevron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2148840"/>
            <a:ext cx="3886200" cy="2697480"/>
          </a:xfrm>
          <a:prstGeom prst="roundRect">
            <a:avLst>
              <a:gd name="adj" fmla="val 3390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863840" y="251460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需要一个持续改进闭环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01584" y="3136392"/>
            <a:ext cx="146304" cy="146304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3090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发现弱点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01584" y="3575304"/>
            <a:ext cx="146304" cy="14630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52958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提出候选改动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01584" y="4014216"/>
            <a:ext cx="146304" cy="146304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396849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实际跑实验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01584" y="4453128"/>
            <a:ext cx="146304" cy="146304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0" y="44074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外部评估后保留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97280" y="5806440"/>
            <a:ext cx="9784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通过评估的版本进入下一轮，成为下一轮改进的基础。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11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11 · RSI 原理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12B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RSI：把“发现问题 → 验证改动”变成受控循环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1B99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926080"/>
            <a:ext cx="1508760" cy="1508760"/>
          </a:xfrm>
          <a:prstGeom prst="ellipse">
            <a:avLst/>
          </a:prstGeom>
          <a:solidFill>
            <a:srgbClr val="6EE7F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36499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发现弱点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3840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失败日志 / 评测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377440" y="3657600"/>
            <a:ext cx="914400" cy="-960120"/>
          </a:xfrm>
          <a:prstGeom prst="line">
            <a:avLst/>
          </a:prstGeom>
          <a:noFill/>
          <a:ln w="30480">
            <a:solidFill>
              <a:srgbClr val="1B99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91840" y="1965960"/>
            <a:ext cx="1508760" cy="1508760"/>
          </a:xfrm>
          <a:prstGeom prst="ellipse">
            <a:avLst/>
          </a:prstGeom>
          <a:solidFill>
            <a:srgbClr val="1B998B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240487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提出改动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83280" y="288036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代码 / 数据 / 策略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0600" y="2697480"/>
            <a:ext cx="1188720" cy="0"/>
          </a:xfrm>
          <a:prstGeom prst="line">
            <a:avLst/>
          </a:prstGeom>
          <a:noFill/>
          <a:ln w="30480">
            <a:solidFill>
              <a:srgbClr val="1B99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89320" y="1965960"/>
            <a:ext cx="1508760" cy="1508760"/>
          </a:xfrm>
          <a:prstGeom prst="ellipse">
            <a:avLst/>
          </a:prstGeom>
          <a:solidFill>
            <a:srgbClr val="1A245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240487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沙盒实验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80760" y="288036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固定预算执行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498080" y="2697480"/>
            <a:ext cx="1143000" cy="960120"/>
          </a:xfrm>
          <a:prstGeom prst="line">
            <a:avLst/>
          </a:prstGeom>
          <a:noFill/>
          <a:ln w="30480">
            <a:solidFill>
              <a:srgbClr val="1B998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641080" y="2926080"/>
            <a:ext cx="1508760" cy="1508760"/>
          </a:xfrm>
          <a:prstGeom prst="ellipse">
            <a:avLst/>
          </a:prstGeom>
          <a:solidFill>
            <a:srgbClr val="FF7A5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32520" y="336499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外部评估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732520" y="3840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留出任务 + 回归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72600" y="4480560"/>
            <a:ext cx="-7543800" cy="0"/>
          </a:xfrm>
          <a:prstGeom prst="line">
            <a:avLst/>
          </a:prstGeom>
          <a:noFill/>
          <a:ln w="27940">
            <a:solidFill>
              <a:srgbClr val="FFC85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840480" y="4590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857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通过才保留；失败就回滚或换候选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920240" y="5257800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6E2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48840" y="543153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边界：权限、沙盒、独立评估、版本记录、可回滚。改进代码不等于基础模型权重自动更新。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12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5943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1B998B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12 · 局限性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94360" y="585216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212B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Transformer + RSI 的边界：循环变快，不等于自动变可靠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1051560" cy="0"/>
          </a:xfrm>
          <a:prstGeom prst="line">
            <a:avLst/>
          </a:prstGeom>
          <a:noFill/>
          <a:ln w="35560">
            <a:solidFill>
              <a:srgbClr val="1B99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00200"/>
            <a:ext cx="5212080" cy="4251960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905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1901952"/>
            <a:ext cx="1508760" cy="283464"/>
          </a:xfrm>
          <a:prstGeom prst="roundRect">
            <a:avLst>
              <a:gd name="adj" fmla="val 48387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476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Transformer 仍受限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33272" y="2651760"/>
            <a:ext cx="164592" cy="164592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25968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窗口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48840" y="2596896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输入和生成总量有限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33272" y="3273552"/>
            <a:ext cx="164592" cy="164592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3218688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成本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48840" y="321868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长上下文、KV cache 和注意力变贵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33272" y="3895344"/>
            <a:ext cx="164592" cy="164592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384048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利用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48840" y="38404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放进去不等于找对、记牢、综合对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33272" y="4517136"/>
            <a:ext cx="164592" cy="16459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44622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事实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48840" y="446227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生成流畅不等于真实正确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1600200"/>
            <a:ext cx="5166360" cy="4251960"/>
          </a:xfrm>
          <a:prstGeom prst="roundRect">
            <a:avLst>
              <a:gd name="adj" fmla="val 2151"/>
            </a:avLst>
          </a:prstGeom>
          <a:solidFill>
            <a:srgbClr val="1A2454"/>
          </a:solidFill>
          <a:ln w="12700">
            <a:solidFill>
              <a:srgbClr val="1A2454"/>
            </a:solidFill>
            <a:prstDash val="solid"/>
          </a:ln>
          <a:effectLst>
            <a:outerShdw sx="100000" sy="100000" kx="0" ky="0" algn="bl" rotWithShape="0" blurRad="12700" dist="50800" dir="2700000">
              <a:srgbClr val="7D8A91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37960" y="1901952"/>
            <a:ext cx="1234440" cy="283464"/>
          </a:xfrm>
          <a:prstGeom prst="roundRect">
            <a:avLst>
              <a:gd name="adj" fmla="val 48387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1947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RSI 仍受限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65392" y="2651760"/>
            <a:ext cx="164592" cy="164592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259689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评测投机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909560" y="2596896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分数变好，不等于真实任务变好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65392" y="3273552"/>
            <a:ext cx="164592" cy="164592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03720" y="32186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误判传播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909560" y="32186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错误候选被接受，会进入下一轮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65392" y="3895344"/>
            <a:ext cx="164592" cy="164592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03720" y="38404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资源成本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909560" y="38404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候选越多，训练和验证越贵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65392" y="4517136"/>
            <a:ext cx="164592" cy="1645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3720" y="446227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能力边界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909560" y="446227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改代理代码不会自动扩大模型窗口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05840" y="6053328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A2454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真正的进步需要：独立评估 + 可追溯版本 + 外部事实 + 人类责任。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37381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13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51560"/>
            <a:ext cx="5669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把 AI 放在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Hiragino Sans GB W6" pitchFamily="34" charset="0"/>
                <a:ea typeface="Hiragino Sans GB W6" pitchFamily="34" charset="-122"/>
                <a:cs typeface="Hiragino Sans GB W6" pitchFamily="34" charset="-120"/>
              </a:rPr>
              <a:t>可验证的工位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58952" y="292608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懂原理 → 会评估 → 设边界 → 再逐步放权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995160" y="1188720"/>
            <a:ext cx="4160520" cy="932688"/>
          </a:xfrm>
          <a:prstGeom prst="roundRect">
            <a:avLst>
              <a:gd name="adj" fmla="val 9804"/>
            </a:avLst>
          </a:prstGeom>
          <a:solidFill>
            <a:srgbClr val="1A2454"/>
          </a:solidFill>
          <a:ln w="17780">
            <a:solidFill>
              <a:srgbClr val="6EE7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69480" y="1463040"/>
            <a:ext cx="365760" cy="365760"/>
          </a:xfrm>
          <a:prstGeom prst="ellipse">
            <a:avLst/>
          </a:prstGeom>
          <a:solidFill>
            <a:srgbClr val="6EE7F9"/>
          </a:solidFill>
          <a:ln w="12700">
            <a:solidFill>
              <a:srgbClr val="6EE7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69480" y="15361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45552" y="13533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它凭什么知道？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45552" y="17190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数据和上下文可信吗？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995160" y="2514600"/>
            <a:ext cx="4160520" cy="932688"/>
          </a:xfrm>
          <a:prstGeom prst="roundRect">
            <a:avLst>
              <a:gd name="adj" fmla="val 9804"/>
            </a:avLst>
          </a:prstGeom>
          <a:solidFill>
            <a:srgbClr val="1A2454"/>
          </a:solidFill>
          <a:ln w="17780">
            <a:solidFill>
              <a:srgbClr val="FFC8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2788920"/>
            <a:ext cx="365760" cy="365760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69480" y="28620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45552" y="26791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错了谁发现？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845552" y="304495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有测试、复核和回滚吗？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95160" y="3840480"/>
            <a:ext cx="4160520" cy="932688"/>
          </a:xfrm>
          <a:prstGeom prst="roundRect">
            <a:avLst>
              <a:gd name="adj" fmla="val 9804"/>
            </a:avLst>
          </a:prstGeom>
          <a:solidFill>
            <a:srgbClr val="1A2454"/>
          </a:solidFill>
          <a:ln w="17780">
            <a:solidFill>
              <a:srgbClr val="FF7A5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69480" y="4114800"/>
            <a:ext cx="365760" cy="365760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187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45552" y="40050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省下的钱够吗？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845552" y="437083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单位成本小于业务价值吗？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58952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AI 是概率引擎和放大器，不是责任承担者。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5C6"/>
                </a:solidFill>
                <a:latin typeface="Hiragino Sans GB W3" pitchFamily="34" charset="0"/>
                <a:ea typeface="Hiragino Sans GB W3" pitchFamily="34" charset="-122"/>
                <a:cs typeface="Hiragino Sans GB W3" pitchFamily="34" charset="-120"/>
              </a:rPr>
              <a:t>14</a:t>
            </a:r>
            <a:endParaRPr lang="en-US" sz="900" dirty="0"/>
          </a:p>
        </p:txBody>
      </p:sp>
    </p:spTree>
  </p:cSld>
  <p:transition spd="med" advClick="1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 GB W6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 GB W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AI Course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看懂 AI，才能用好 AI</dc:title>
  <dc:subject>神经网络、Transformer、GPT 与 RSI</dc:subject>
  <dc:creator>OpenAI</dc:creator>
  <cp:lastModifiedBy>OpenAI</cp:lastModifiedBy>
  <cp:revision>1</cp:revision>
  <dcterms:created xsi:type="dcterms:W3CDTF">2026-10-13T03:25:18Z</dcterms:created>
  <dcterms:modified xsi:type="dcterms:W3CDTF">2026-10-13T03:25:18Z</dcterms:modified>
</cp:coreProperties>
</file>