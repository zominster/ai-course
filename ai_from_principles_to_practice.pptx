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冬青黑体简体中文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冬青黑体简体中文 W6"/>
          <a:ea typeface="冬青黑体简体中文 W6"/>
          <a:cs typeface="冬青黑体简体中文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冬青黑体简体中文 W6"/>
          <a:ea typeface="冬青黑体简体中文 W6"/>
          <a:cs typeface="冬青黑体简体中文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冬青黑体简体中文 W6"/>
          <a:ea typeface="冬青黑体简体中文 W6"/>
          <a:cs typeface="冬青黑体简体中文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冬青黑体简体中文 W6"/>
          <a:ea typeface="冬青黑体简体中文 W6"/>
          <a:cs typeface="冬青黑体简体中文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冬青黑体简体中文 W6"/>
          <a:ea typeface="冬青黑体简体中文 W6"/>
          <a:cs typeface="冬青黑体简体中文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冬青黑体简体中文 W3"/>
      </a:defRPr>
    </a:lvl1pPr>
    <a:lvl2pPr indent="228600" latinLnBrk="0">
      <a:defRPr sz="1200">
        <a:latin typeface="+mn-lt"/>
        <a:ea typeface="+mn-ea"/>
        <a:cs typeface="+mn-cs"/>
        <a:sym typeface="冬青黑体简体中文 W3"/>
      </a:defRPr>
    </a:lvl2pPr>
    <a:lvl3pPr indent="457200" latinLnBrk="0">
      <a:defRPr sz="1200">
        <a:latin typeface="+mn-lt"/>
        <a:ea typeface="+mn-ea"/>
        <a:cs typeface="+mn-cs"/>
        <a:sym typeface="冬青黑体简体中文 W3"/>
      </a:defRPr>
    </a:lvl3pPr>
    <a:lvl4pPr indent="685800" latinLnBrk="0">
      <a:defRPr sz="1200">
        <a:latin typeface="+mn-lt"/>
        <a:ea typeface="+mn-ea"/>
        <a:cs typeface="+mn-cs"/>
        <a:sym typeface="冬青黑体简体中文 W3"/>
      </a:defRPr>
    </a:lvl4pPr>
    <a:lvl5pPr indent="914400" latinLnBrk="0">
      <a:defRPr sz="1200">
        <a:latin typeface="+mn-lt"/>
        <a:ea typeface="+mn-ea"/>
        <a:cs typeface="+mn-cs"/>
        <a:sym typeface="冬青黑体简体中文 W3"/>
      </a:defRPr>
    </a:lvl5pPr>
    <a:lvl6pPr indent="1143000" latinLnBrk="0">
      <a:defRPr sz="1200">
        <a:latin typeface="+mn-lt"/>
        <a:ea typeface="+mn-ea"/>
        <a:cs typeface="+mn-cs"/>
        <a:sym typeface="冬青黑体简体中文 W3"/>
      </a:defRPr>
    </a:lvl6pPr>
    <a:lvl7pPr indent="1371600" latinLnBrk="0">
      <a:defRPr sz="1200">
        <a:latin typeface="+mn-lt"/>
        <a:ea typeface="+mn-ea"/>
        <a:cs typeface="+mn-cs"/>
        <a:sym typeface="冬青黑体简体中文 W3"/>
      </a:defRPr>
    </a:lvl7pPr>
    <a:lvl8pPr indent="1600200" latinLnBrk="0">
      <a:defRPr sz="1200">
        <a:latin typeface="+mn-lt"/>
        <a:ea typeface="+mn-ea"/>
        <a:cs typeface="+mn-cs"/>
        <a:sym typeface="冬青黑体简体中文 W3"/>
      </a:defRPr>
    </a:lvl8pPr>
    <a:lvl9pPr indent="1828800" latinLnBrk="0">
      <a:defRPr sz="1200">
        <a:latin typeface="+mn-lt"/>
        <a:ea typeface="+mn-ea"/>
        <a:cs typeface="+mn-cs"/>
        <a:sym typeface="冬青黑体简体中文 W3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Shape 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开场先给路线：先理解模型怎样算，再理解它怎样学，最后看为什么还需要工具、评估和 </a:t>
            </a:r>
            <a:r>
              <a:t>RSI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这页把训练和推理放在同一张图中。训练是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预测</a:t>
            </a:r>
            <a:r>
              <a:t>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比较</a:t>
            </a:r>
            <a:r>
              <a:t>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更新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的反馈回路；推理是参数固定后，给新输入做一次前向计算。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把公式落到一个数值过程：输入乘权重、加总、经过 </a:t>
            </a:r>
            <a:r>
              <a:t>ReLU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。激活函数提供折点，让多层网络能够表达弯曲的关系。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Shape 2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重点讲清用户要求的结论：网络结构来自对现实规律的总结。人类视觉先看局部，再组合整体；</a:t>
            </a:r>
            <a:r>
              <a:t>CNN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用局部感受野、共享卷积核、池化和逐层特征组合来实现类似的计算偏置。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9" name="Shape 2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这一页作为上一页的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工程流水线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补充。让听众看到结构里的每个部件为什么存在，而不是只记住 </a:t>
            </a:r>
            <a:r>
              <a:t>CNN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三个字。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Shape 3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点击节奏：先出现句子，再强调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它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，最后出现权重和 </a:t>
            </a:r>
            <a:r>
              <a:t>Q/K/V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。本页明确是双向编码器示意；</a:t>
            </a:r>
            <a:r>
              <a:t>GPT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 </a:t>
            </a:r>
            <a:r>
              <a:t>decoder-only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因果注意力会屏蔽未来位置。注意力比例是教学示意，不是真实模型读出的测量值。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0" name="Shape 3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Transformer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不是只有注意力。完整一层还包括位置处理、残差、归一化和前馈网络。用这一页把部件关系讲完整。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2" name="Shape 3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用户要求讲清 </a:t>
            </a:r>
            <a:r>
              <a:t>GPT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相对于 </a:t>
            </a:r>
            <a:r>
              <a:t>Transformer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的进步。要避免说成</a:t>
            </a:r>
            <a:r>
              <a:t>“GPT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改进了注意力公式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：</a:t>
            </a:r>
            <a:r>
              <a:t>Transformer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是架构家族，</a:t>
            </a:r>
            <a:r>
              <a:t>GPT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的关键贡献是采用 </a:t>
            </a:r>
            <a:r>
              <a:t>decoder-only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生成结构，并配合 </a:t>
            </a:r>
            <a:r>
              <a:t>next-token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预训练、规模化训练和后续对齐，做成可通用的生成模型路线。来源：</a:t>
            </a:r>
            <a:r>
              <a:t>Transformer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原始论文 </a:t>
            </a:r>
            <a:r>
              <a:t>https://arxiv.org/html/1706.03762v7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GPT-1 https://cdn.openai.com/research-covers/language-unsupervised/language_understanding_paper.pdf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GPT-2 https://cdn.openai.com/better-language-models/language_models_are_unsupervised_multitask_learners.pdf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GPT-3 https://arxiv.org/abs/2005.14165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InstructGPT https://arxiv.org/abs/2203.02155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6" name="Shape 4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GPT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生成不是一次性写完整答案，而是每步预测一个 </a:t>
            </a:r>
            <a:r>
              <a:t>token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，再把它追加到上下文。可以点击逐步讲解；本页的条形是教学示意，不是实际模型输出。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4" name="Shape 4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这一页把上下文限制拆成四个独立原因。</a:t>
            </a:r>
            <a:r>
              <a:t>FlashAttention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可以优化内存访问，但不会让标准稠密注意力的配对计算、</a:t>
            </a:r>
            <a:r>
              <a:t>KV cache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和有效利用问题消失。来源：</a:t>
            </a:r>
            <a:r>
              <a:t>Transformer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原始论文 </a:t>
            </a:r>
            <a:r>
              <a:t>https://arxiv.org/html/1706.03762v7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FlashAttention https://arxiv.org/abs/2205.14135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Hugging Face KV cache https://huggingface.co/docs/transformers/cache_explanation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Lost in the Middle https://arxiv.org/abs/2307.03172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6" name="Shape 4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前先讲为什么需要它：模型静态、人工试错慢、上下文和实验历史有限、评估不容易。</a:t>
            </a:r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试图把发现问题、提出改动、实验和筛选纳入持续循环。来源：</a:t>
            </a:r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概念综述 </a:t>
            </a:r>
            <a:r>
              <a:t>https://arxiv.org/html/2609.11873v3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AIDE² https://arxiv.org/html/2609.26457v1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2" name="Shape 5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点击节奏：四个节点依次出现，再出现回路和护栏。</a:t>
            </a:r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是工程闭环，不是一个新的神经网络层。改进对象可以是代理代码、工具、数据、模型参数或改进策略，必须说明具体改了哪一层。来源：</a:t>
            </a:r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概念综述 </a:t>
            </a:r>
            <a:r>
              <a:t>https://arxiv.org/html/2609.11873v3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AIDE² https://arxiv.org/html/2609.26457v1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；</a:t>
            </a:r>
            <a:r>
              <a:t>AlphaEvolve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官方介绍 </a:t>
            </a:r>
            <a:r>
              <a:t>https://deepmind.google/blog/alphaevolve-a-gemini-powered-coding-agent-for-designing-advanced-algorithms/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0" name="Shape 5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这页把 </a:t>
            </a:r>
            <a:r>
              <a:t>Transformer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的限制和 </a:t>
            </a:r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的限制分开，避免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加一个自我改进循环就解决所有问题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的误解。尤其强调固定基础模型的 </a:t>
            </a:r>
            <a:r>
              <a:t>RSI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可以提高工作流，但不会自动改变窗口或模型权重。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0" name="Shape 5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冬青黑体简体中文 W3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这页保留原稿的经营视角，但把示意条明确标成成本项，不伪装成真实占比。重点是模型价格之外还有数据、治理、人工和错误成本。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3" name="Shape 6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坐标轴直接回答场景选择：重复度高、可控性高的任务优先自动化；高风险事项让 </a:t>
            </a:r>
            <a:r>
              <a:t>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做草稿、提醒或初筛，人做最终决定。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4" name="Shape 6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冬青黑体简体中文 W3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成熟度是逐级放权。先建立稳定的评测基线和复核机制，再把通过验证的动作纳入流程，最后才考虑系统级行动。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6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2" name="Shape 6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用六个问题替代抽象的 </a:t>
            </a:r>
            <a:r>
              <a:t>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愿景：场景、数据、护栏、</a:t>
            </a:r>
            <a:r>
              <a:t>ROI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、人工和复盘。它们对应模型输入、系统权限、评测和运营闭环。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7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4" name="Shape 7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j-lt"/>
                <a:ea typeface="+mj-ea"/>
                <a:cs typeface="+mj-cs"/>
                <a:sym typeface="Helvetica"/>
              </a:rPr>
              <a:t>收尾回到三个问题：它凭什么知道？错了谁发现？省下的钱够吗？理解原理的目的，是把 </a:t>
            </a:r>
            <a:r>
              <a:t>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放到可验证、可追责、可迭代的工位。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冬青黑体简体中文 W6"/>
          <a:ea typeface="冬青黑体简体中文 W6"/>
          <a:cs typeface="冬青黑体简体中文 W6"/>
          <a:sym typeface="冬青黑体简体中文 W6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冬青黑体简体中文 W3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冬青黑体简体中文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731519" y="914399"/>
            <a:ext cx="5303522" cy="132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34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看懂 AI，</a:t>
            </a:r>
          </a:p>
          <a:p>
            <a:pPr>
              <a:defRPr sz="34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才能用好 AI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58951" y="2641219"/>
            <a:ext cx="5486401" cy="22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6EE7F9"/>
                </a:solidFill>
              </a:defRPr>
            </a:lvl1pPr>
          </a:lstStyle>
          <a:p>
            <a:pPr/>
            <a:r>
              <a:t>从神经网络、Transformer、GPT 到 RSI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58951" y="3246120"/>
            <a:ext cx="530352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A9B5C6"/>
                </a:solidFill>
              </a:defRPr>
            </a:lvl1pPr>
          </a:lstStyle>
          <a:p>
            <a:pPr/>
            <a:r>
              <a:t>AI 不是魔法，是一套从例子里调参数，再对新输入做计算的系统。</a:t>
            </a:r>
          </a:p>
        </p:txBody>
      </p:sp>
      <p:sp>
        <p:nvSpPr>
          <p:cNvPr id="23" name="Shape 3"/>
          <p:cNvSpPr/>
          <p:nvPr/>
        </p:nvSpPr>
        <p:spPr>
          <a:xfrm>
            <a:off x="6766559" y="2011679"/>
            <a:ext cx="1371601" cy="1417321"/>
          </a:xfrm>
          <a:prstGeom prst="roundRect">
            <a:avLst>
              <a:gd name="adj" fmla="val 6667"/>
            </a:avLst>
          </a:prstGeom>
          <a:solidFill>
            <a:srgbClr val="1A2454"/>
          </a:solidFill>
          <a:ln w="1905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7278623" y="2267711"/>
            <a:ext cx="347473" cy="347473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6903719" y="2743200"/>
            <a:ext cx="10972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输入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6858000" y="3090672"/>
            <a:ext cx="11887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A9B5C6"/>
                </a:solidFill>
              </a:defRPr>
            </a:lvl1pPr>
          </a:lstStyle>
          <a:p>
            <a:pPr/>
            <a:r>
              <a:t>图片 / 文字 / 数据</a:t>
            </a:r>
          </a:p>
        </p:txBody>
      </p:sp>
      <p:sp>
        <p:nvSpPr>
          <p:cNvPr id="27" name="Shape 7"/>
          <p:cNvSpPr/>
          <p:nvPr/>
        </p:nvSpPr>
        <p:spPr>
          <a:xfrm>
            <a:off x="8211311" y="2606039"/>
            <a:ext cx="347473" cy="237745"/>
          </a:xfrm>
          <a:prstGeom prst="chevron">
            <a:avLst>
              <a:gd name="adj" fmla="val 50000"/>
            </a:avLst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8641080" y="2011679"/>
            <a:ext cx="1371601" cy="1417321"/>
          </a:xfrm>
          <a:prstGeom prst="roundRect">
            <a:avLst>
              <a:gd name="adj" fmla="val 6667"/>
            </a:avLst>
          </a:prstGeom>
          <a:solidFill>
            <a:srgbClr val="1A2454"/>
          </a:solidFill>
          <a:ln w="1905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9153143" y="2267711"/>
            <a:ext cx="347473" cy="347473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8778240" y="2743200"/>
            <a:ext cx="10972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模型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8732519" y="3090672"/>
            <a:ext cx="11887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A9B5C6"/>
                </a:solidFill>
              </a:defRPr>
            </a:lvl1pPr>
          </a:lstStyle>
          <a:p>
            <a:pPr/>
            <a:r>
              <a:t>参数 + 计算结构</a:t>
            </a:r>
          </a:p>
        </p:txBody>
      </p:sp>
      <p:sp>
        <p:nvSpPr>
          <p:cNvPr id="32" name="Shape 12"/>
          <p:cNvSpPr/>
          <p:nvPr/>
        </p:nvSpPr>
        <p:spPr>
          <a:xfrm>
            <a:off x="10085831" y="2606039"/>
            <a:ext cx="347473" cy="237745"/>
          </a:xfrm>
          <a:prstGeom prst="chevron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10515600" y="2011679"/>
            <a:ext cx="1371600" cy="1417321"/>
          </a:xfrm>
          <a:prstGeom prst="roundRect">
            <a:avLst>
              <a:gd name="adj" fmla="val 6667"/>
            </a:avLst>
          </a:prstGeom>
          <a:solidFill>
            <a:srgbClr val="1A2454"/>
          </a:solidFill>
          <a:ln w="1905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4"/>
          <p:cNvSpPr/>
          <p:nvPr/>
        </p:nvSpPr>
        <p:spPr>
          <a:xfrm>
            <a:off x="11027664" y="2267711"/>
            <a:ext cx="347473" cy="347473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5"/>
          <p:cNvSpPr txBox="1"/>
          <p:nvPr/>
        </p:nvSpPr>
        <p:spPr>
          <a:xfrm>
            <a:off x="10652759" y="2743200"/>
            <a:ext cx="10972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输出</a:t>
            </a:r>
          </a:p>
        </p:txBody>
      </p:sp>
      <p:sp>
        <p:nvSpPr>
          <p:cNvPr id="36" name="Text 16"/>
          <p:cNvSpPr txBox="1"/>
          <p:nvPr/>
        </p:nvSpPr>
        <p:spPr>
          <a:xfrm>
            <a:off x="10607040" y="3090672"/>
            <a:ext cx="11887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A9B5C6"/>
                </a:solidFill>
              </a:defRPr>
            </a:lvl1pPr>
          </a:lstStyle>
          <a:p>
            <a:pPr/>
            <a:r>
              <a:t>预测 / 生成 / 动作</a:t>
            </a:r>
          </a:p>
        </p:txBody>
      </p:sp>
      <p:sp>
        <p:nvSpPr>
          <p:cNvPr id="37" name="Text 17"/>
          <p:cNvSpPr txBox="1"/>
          <p:nvPr/>
        </p:nvSpPr>
        <p:spPr>
          <a:xfrm>
            <a:off x="6812280" y="4160520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训练：调整参数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8686799" y="4160520"/>
            <a:ext cx="13258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34D39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推理：使用参数</a:t>
            </a:r>
          </a:p>
        </p:txBody>
      </p:sp>
      <p:sp>
        <p:nvSpPr>
          <p:cNvPr id="39" name="Text 19"/>
          <p:cNvSpPr txBox="1"/>
          <p:nvPr/>
        </p:nvSpPr>
        <p:spPr>
          <a:xfrm>
            <a:off x="10561319" y="4160520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复核：检查结果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01 · 训练与推理</a:t>
            </a:r>
          </a:p>
        </p:txBody>
      </p:sp>
      <p:sp>
        <p:nvSpPr>
          <p:cNvPr id="45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AI 的核心：先找到一组参数，再用它处理新输入</a:t>
            </a:r>
          </a:p>
        </p:txBody>
      </p:sp>
      <p:sp>
        <p:nvSpPr>
          <p:cNvPr id="46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3"/>
          <p:cNvSpPr txBox="1"/>
          <p:nvPr/>
        </p:nvSpPr>
        <p:spPr>
          <a:xfrm>
            <a:off x="731519" y="1430020"/>
            <a:ext cx="228600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637381"/>
                </a:solidFill>
              </a:defRPr>
            </a:lvl1pPr>
          </a:lstStyle>
          <a:p>
            <a:pPr/>
            <a:r>
              <a:t>把模型写成一个函数：</a:t>
            </a:r>
          </a:p>
        </p:txBody>
      </p:sp>
      <p:sp>
        <p:nvSpPr>
          <p:cNvPr id="48" name="Text 4"/>
          <p:cNvSpPr txBox="1"/>
          <p:nvPr/>
        </p:nvSpPr>
        <p:spPr>
          <a:xfrm>
            <a:off x="2834639" y="1279143"/>
            <a:ext cx="283464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ŷ = f(x; θ)</a:t>
            </a:r>
          </a:p>
        </p:txBody>
      </p:sp>
      <p:sp>
        <p:nvSpPr>
          <p:cNvPr id="49" name="Shape 5"/>
          <p:cNvSpPr/>
          <p:nvPr/>
        </p:nvSpPr>
        <p:spPr>
          <a:xfrm>
            <a:off x="731519" y="1965960"/>
            <a:ext cx="5212081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0320">
            <a:solidFill>
              <a:srgbClr val="6EE7F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Shape 6"/>
          <p:cNvSpPr/>
          <p:nvPr/>
        </p:nvSpPr>
        <p:spPr>
          <a:xfrm>
            <a:off x="1005839" y="2267711"/>
            <a:ext cx="1371601" cy="283465"/>
          </a:xfrm>
          <a:prstGeom prst="roundRect">
            <a:avLst>
              <a:gd name="adj" fmla="val 48387"/>
            </a:avLst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7"/>
          <p:cNvSpPr txBox="1"/>
          <p:nvPr/>
        </p:nvSpPr>
        <p:spPr>
          <a:xfrm>
            <a:off x="1005839" y="2313432"/>
            <a:ext cx="1371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训练：参数会变</a:t>
            </a:r>
          </a:p>
        </p:txBody>
      </p:sp>
      <p:sp>
        <p:nvSpPr>
          <p:cNvPr id="52" name="Shape 8"/>
          <p:cNvSpPr/>
          <p:nvPr/>
        </p:nvSpPr>
        <p:spPr>
          <a:xfrm>
            <a:off x="1024127" y="2761488"/>
            <a:ext cx="338330" cy="338329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9"/>
          <p:cNvSpPr txBox="1"/>
          <p:nvPr/>
        </p:nvSpPr>
        <p:spPr>
          <a:xfrm>
            <a:off x="1024127" y="2825495"/>
            <a:ext cx="33833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4" name="Text 10"/>
          <p:cNvSpPr txBox="1"/>
          <p:nvPr/>
        </p:nvSpPr>
        <p:spPr>
          <a:xfrm>
            <a:off x="1527047" y="2770632"/>
            <a:ext cx="1691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输入 + 答案</a:t>
            </a:r>
          </a:p>
        </p:txBody>
      </p:sp>
      <p:sp>
        <p:nvSpPr>
          <p:cNvPr id="55" name="Text 11"/>
          <p:cNvSpPr txBox="1"/>
          <p:nvPr/>
        </p:nvSpPr>
        <p:spPr>
          <a:xfrm>
            <a:off x="1527047" y="3026664"/>
            <a:ext cx="2560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看历史样本</a:t>
            </a:r>
          </a:p>
        </p:txBody>
      </p:sp>
      <p:sp>
        <p:nvSpPr>
          <p:cNvPr id="56" name="Shape 12"/>
          <p:cNvSpPr/>
          <p:nvPr/>
        </p:nvSpPr>
        <p:spPr>
          <a:xfrm>
            <a:off x="1024127" y="3328415"/>
            <a:ext cx="338330" cy="338329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3"/>
          <p:cNvSpPr txBox="1"/>
          <p:nvPr/>
        </p:nvSpPr>
        <p:spPr>
          <a:xfrm>
            <a:off x="1024127" y="3392423"/>
            <a:ext cx="33833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8" name="Text 14"/>
          <p:cNvSpPr txBox="1"/>
          <p:nvPr/>
        </p:nvSpPr>
        <p:spPr>
          <a:xfrm>
            <a:off x="1527047" y="3337559"/>
            <a:ext cx="1691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前向预测</a:t>
            </a:r>
          </a:p>
        </p:txBody>
      </p:sp>
      <p:sp>
        <p:nvSpPr>
          <p:cNvPr id="59" name="Text 15"/>
          <p:cNvSpPr txBox="1"/>
          <p:nvPr/>
        </p:nvSpPr>
        <p:spPr>
          <a:xfrm>
            <a:off x="1527047" y="3593591"/>
            <a:ext cx="2560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得到 ŷ</a:t>
            </a:r>
          </a:p>
        </p:txBody>
      </p:sp>
      <p:sp>
        <p:nvSpPr>
          <p:cNvPr id="60" name="Shape 16"/>
          <p:cNvSpPr/>
          <p:nvPr/>
        </p:nvSpPr>
        <p:spPr>
          <a:xfrm>
            <a:off x="1024127" y="3895344"/>
            <a:ext cx="338330" cy="338329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7"/>
          <p:cNvSpPr txBox="1"/>
          <p:nvPr/>
        </p:nvSpPr>
        <p:spPr>
          <a:xfrm>
            <a:off x="1024127" y="3959352"/>
            <a:ext cx="33833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2" name="Text 18"/>
          <p:cNvSpPr txBox="1"/>
          <p:nvPr/>
        </p:nvSpPr>
        <p:spPr>
          <a:xfrm>
            <a:off x="1527047" y="3904488"/>
            <a:ext cx="1691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计算损失</a:t>
            </a:r>
          </a:p>
        </p:txBody>
      </p:sp>
      <p:sp>
        <p:nvSpPr>
          <p:cNvPr id="63" name="Text 19"/>
          <p:cNvSpPr txBox="1"/>
          <p:nvPr/>
        </p:nvSpPr>
        <p:spPr>
          <a:xfrm>
            <a:off x="1527047" y="4160520"/>
            <a:ext cx="2560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比较 ŷ 和答案</a:t>
            </a:r>
          </a:p>
        </p:txBody>
      </p:sp>
      <p:sp>
        <p:nvSpPr>
          <p:cNvPr id="64" name="Shape 20"/>
          <p:cNvSpPr/>
          <p:nvPr/>
        </p:nvSpPr>
        <p:spPr>
          <a:xfrm>
            <a:off x="1024127" y="4462271"/>
            <a:ext cx="338330" cy="338329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1"/>
          <p:cNvSpPr txBox="1"/>
          <p:nvPr/>
        </p:nvSpPr>
        <p:spPr>
          <a:xfrm>
            <a:off x="1024127" y="4526279"/>
            <a:ext cx="33833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6" name="Text 22"/>
          <p:cNvSpPr txBox="1"/>
          <p:nvPr/>
        </p:nvSpPr>
        <p:spPr>
          <a:xfrm>
            <a:off x="1527047" y="4471415"/>
            <a:ext cx="1691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694944">
              <a:defRPr sz="114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反传求梯度 → 优化器更新</a:t>
            </a:r>
          </a:p>
        </p:txBody>
      </p:sp>
      <p:sp>
        <p:nvSpPr>
          <p:cNvPr id="67" name="Text 23"/>
          <p:cNvSpPr txBox="1"/>
          <p:nvPr/>
        </p:nvSpPr>
        <p:spPr>
          <a:xfrm>
            <a:off x="1527047" y="4727447"/>
            <a:ext cx="2560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学习率决定步长</a:t>
            </a:r>
          </a:p>
        </p:txBody>
      </p:sp>
      <p:sp>
        <p:nvSpPr>
          <p:cNvPr id="68" name="Shape 24"/>
          <p:cNvSpPr/>
          <p:nvPr/>
        </p:nvSpPr>
        <p:spPr>
          <a:xfrm>
            <a:off x="1325880" y="5004053"/>
            <a:ext cx="4023360" cy="1"/>
          </a:xfrm>
          <a:prstGeom prst="line">
            <a:avLst/>
          </a:prstGeom>
          <a:ln w="25400">
            <a:solidFill>
              <a:srgbClr val="FFC85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5"/>
          <p:cNvSpPr txBox="1"/>
          <p:nvPr/>
        </p:nvSpPr>
        <p:spPr>
          <a:xfrm>
            <a:off x="2743200" y="4967985"/>
            <a:ext cx="19202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训练是一条反馈回路</a:t>
            </a:r>
          </a:p>
        </p:txBody>
      </p:sp>
      <p:sp>
        <p:nvSpPr>
          <p:cNvPr id="70" name="Shape 26"/>
          <p:cNvSpPr/>
          <p:nvPr/>
        </p:nvSpPr>
        <p:spPr>
          <a:xfrm>
            <a:off x="6263640" y="1965960"/>
            <a:ext cx="5212081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2032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" name="Shape 27"/>
          <p:cNvSpPr/>
          <p:nvPr/>
        </p:nvSpPr>
        <p:spPr>
          <a:xfrm>
            <a:off x="6537959" y="2267711"/>
            <a:ext cx="1572769" cy="283465"/>
          </a:xfrm>
          <a:prstGeom prst="roundRect">
            <a:avLst>
              <a:gd name="adj" fmla="val 4838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8"/>
          <p:cNvSpPr txBox="1"/>
          <p:nvPr/>
        </p:nvSpPr>
        <p:spPr>
          <a:xfrm>
            <a:off x="6537959" y="2313432"/>
            <a:ext cx="157276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推理：参数通常不变</a:t>
            </a:r>
          </a:p>
        </p:txBody>
      </p:sp>
      <p:sp>
        <p:nvSpPr>
          <p:cNvPr id="73" name="Shape 29"/>
          <p:cNvSpPr/>
          <p:nvPr/>
        </p:nvSpPr>
        <p:spPr>
          <a:xfrm>
            <a:off x="6565392" y="3063239"/>
            <a:ext cx="1234441" cy="713233"/>
          </a:xfrm>
          <a:prstGeom prst="roundRect">
            <a:avLst>
              <a:gd name="adj" fmla="val 12821"/>
            </a:avLst>
          </a:prstGeom>
          <a:solidFill>
            <a:srgbClr val="EEF5F5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30"/>
          <p:cNvSpPr txBox="1"/>
          <p:nvPr/>
        </p:nvSpPr>
        <p:spPr>
          <a:xfrm>
            <a:off x="6565392" y="3310128"/>
            <a:ext cx="12344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新输入 x</a:t>
            </a:r>
          </a:p>
        </p:txBody>
      </p:sp>
      <p:sp>
        <p:nvSpPr>
          <p:cNvPr id="75" name="Shape 31"/>
          <p:cNvSpPr/>
          <p:nvPr/>
        </p:nvSpPr>
        <p:spPr>
          <a:xfrm>
            <a:off x="8001000" y="3310128"/>
            <a:ext cx="411481" cy="256033"/>
          </a:xfrm>
          <a:prstGeom prst="chevron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32"/>
          <p:cNvSpPr/>
          <p:nvPr/>
        </p:nvSpPr>
        <p:spPr>
          <a:xfrm>
            <a:off x="8549640" y="2926079"/>
            <a:ext cx="1417321" cy="987553"/>
          </a:xfrm>
          <a:prstGeom prst="roundRect">
            <a:avLst>
              <a:gd name="adj" fmla="val 9259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33"/>
          <p:cNvSpPr txBox="1"/>
          <p:nvPr/>
        </p:nvSpPr>
        <p:spPr>
          <a:xfrm>
            <a:off x="8549640" y="3236976"/>
            <a:ext cx="1417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77240">
              <a:defRPr sz="187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fθ</a:t>
            </a:r>
          </a:p>
        </p:txBody>
      </p:sp>
      <p:sp>
        <p:nvSpPr>
          <p:cNvPr id="78" name="Shape 34"/>
          <p:cNvSpPr/>
          <p:nvPr/>
        </p:nvSpPr>
        <p:spPr>
          <a:xfrm>
            <a:off x="10149840" y="3310128"/>
            <a:ext cx="411481" cy="256033"/>
          </a:xfrm>
          <a:prstGeom prst="chevron">
            <a:avLst>
              <a:gd name="adj" fmla="val 50000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35"/>
          <p:cNvSpPr/>
          <p:nvPr/>
        </p:nvSpPr>
        <p:spPr>
          <a:xfrm>
            <a:off x="10698480" y="3063239"/>
            <a:ext cx="713233" cy="713233"/>
          </a:xfrm>
          <a:prstGeom prst="roundRect">
            <a:avLst>
              <a:gd name="adj" fmla="val 12821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36"/>
          <p:cNvSpPr txBox="1"/>
          <p:nvPr/>
        </p:nvSpPr>
        <p:spPr>
          <a:xfrm>
            <a:off x="10698480" y="3310128"/>
            <a:ext cx="71323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68095">
              <a:defRPr sz="1512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ŷ</a:t>
            </a:r>
          </a:p>
        </p:txBody>
      </p:sp>
      <p:sp>
        <p:nvSpPr>
          <p:cNvPr id="81" name="Text 37"/>
          <p:cNvSpPr txBox="1"/>
          <p:nvPr/>
        </p:nvSpPr>
        <p:spPr>
          <a:xfrm>
            <a:off x="6583680" y="4434840"/>
            <a:ext cx="4343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推理是在代入公式，不是在现场重新训练。</a:t>
            </a:r>
          </a:p>
        </p:txBody>
      </p:sp>
      <p:sp>
        <p:nvSpPr>
          <p:cNvPr id="82" name="Text 38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02 · 神经网络</a:t>
            </a:r>
          </a:p>
        </p:txBody>
      </p:sp>
      <p:sp>
        <p:nvSpPr>
          <p:cNvPr id="87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一个神经元：先混合线索，再决定是否放行</a:t>
            </a:r>
          </a:p>
        </p:txBody>
      </p:sp>
      <p:sp>
        <p:nvSpPr>
          <p:cNvPr id="88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3"/>
          <p:cNvSpPr/>
          <p:nvPr/>
        </p:nvSpPr>
        <p:spPr>
          <a:xfrm>
            <a:off x="685800" y="1554480"/>
            <a:ext cx="5486400" cy="438912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0" name="Text 4"/>
          <p:cNvSpPr txBox="1"/>
          <p:nvPr/>
        </p:nvSpPr>
        <p:spPr>
          <a:xfrm>
            <a:off x="960119" y="1828800"/>
            <a:ext cx="146304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具体算一遍</a:t>
            </a:r>
          </a:p>
        </p:txBody>
      </p:sp>
      <p:sp>
        <p:nvSpPr>
          <p:cNvPr id="91" name="Text 5"/>
          <p:cNvSpPr txBox="1"/>
          <p:nvPr/>
        </p:nvSpPr>
        <p:spPr>
          <a:xfrm>
            <a:off x="960120" y="2258567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31520">
              <a:defRPr sz="152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z = 0.8x₁ + 0.1x₂ − 0.4x₃ + b</a:t>
            </a:r>
          </a:p>
        </p:txBody>
      </p:sp>
      <p:sp>
        <p:nvSpPr>
          <p:cNvPr id="92" name="Shape 6"/>
          <p:cNvSpPr/>
          <p:nvPr/>
        </p:nvSpPr>
        <p:spPr>
          <a:xfrm>
            <a:off x="960119" y="2862072"/>
            <a:ext cx="1600201" cy="283465"/>
          </a:xfrm>
          <a:prstGeom prst="roundRect">
            <a:avLst>
              <a:gd name="adj" fmla="val 48387"/>
            </a:avLst>
          </a:prstGeom>
          <a:solidFill>
            <a:srgbClr val="EEF5F5"/>
          </a:solidFill>
          <a:ln w="12700">
            <a:solidFill>
              <a:srgbClr val="EE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7"/>
          <p:cNvSpPr txBox="1"/>
          <p:nvPr/>
        </p:nvSpPr>
        <p:spPr>
          <a:xfrm>
            <a:off x="960119" y="2907792"/>
            <a:ext cx="1600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客户说“太贵”</a:t>
            </a:r>
          </a:p>
        </p:txBody>
      </p:sp>
      <p:sp>
        <p:nvSpPr>
          <p:cNvPr id="94" name="Text 8"/>
          <p:cNvSpPr txBox="1"/>
          <p:nvPr/>
        </p:nvSpPr>
        <p:spPr>
          <a:xfrm>
            <a:off x="2743200" y="2916935"/>
            <a:ext cx="9144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x₁ = 1.0</a:t>
            </a:r>
          </a:p>
        </p:txBody>
      </p:sp>
      <p:sp>
        <p:nvSpPr>
          <p:cNvPr id="95" name="Text 9"/>
          <p:cNvSpPr txBox="1"/>
          <p:nvPr/>
        </p:nvSpPr>
        <p:spPr>
          <a:xfrm>
            <a:off x="3886199" y="2916935"/>
            <a:ext cx="7772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× 0.8</a:t>
            </a:r>
          </a:p>
        </p:txBody>
      </p:sp>
      <p:sp>
        <p:nvSpPr>
          <p:cNvPr id="96" name="Shape 10"/>
          <p:cNvSpPr/>
          <p:nvPr/>
        </p:nvSpPr>
        <p:spPr>
          <a:xfrm>
            <a:off x="960119" y="3429000"/>
            <a:ext cx="1600201" cy="283464"/>
          </a:xfrm>
          <a:prstGeom prst="roundRect">
            <a:avLst>
              <a:gd name="adj" fmla="val 48387"/>
            </a:avLst>
          </a:prstGeom>
          <a:solidFill>
            <a:srgbClr val="EEF5F5"/>
          </a:solidFill>
          <a:ln w="12700">
            <a:solidFill>
              <a:srgbClr val="EE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1"/>
          <p:cNvSpPr txBox="1"/>
          <p:nvPr/>
        </p:nvSpPr>
        <p:spPr>
          <a:xfrm>
            <a:off x="960119" y="3474720"/>
            <a:ext cx="1600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近 30 天退货率</a:t>
            </a:r>
          </a:p>
        </p:txBody>
      </p:sp>
      <p:sp>
        <p:nvSpPr>
          <p:cNvPr id="98" name="Text 12"/>
          <p:cNvSpPr txBox="1"/>
          <p:nvPr/>
        </p:nvSpPr>
        <p:spPr>
          <a:xfrm>
            <a:off x="2743200" y="3483864"/>
            <a:ext cx="9144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x₂ = 0.5</a:t>
            </a:r>
          </a:p>
        </p:txBody>
      </p:sp>
      <p:sp>
        <p:nvSpPr>
          <p:cNvPr id="99" name="Text 13"/>
          <p:cNvSpPr txBox="1"/>
          <p:nvPr/>
        </p:nvSpPr>
        <p:spPr>
          <a:xfrm>
            <a:off x="3886199" y="3483864"/>
            <a:ext cx="7772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× 0.1</a:t>
            </a:r>
          </a:p>
        </p:txBody>
      </p:sp>
      <p:sp>
        <p:nvSpPr>
          <p:cNvPr id="100" name="Shape 14"/>
          <p:cNvSpPr/>
          <p:nvPr/>
        </p:nvSpPr>
        <p:spPr>
          <a:xfrm>
            <a:off x="960119" y="3995928"/>
            <a:ext cx="1600201" cy="283465"/>
          </a:xfrm>
          <a:prstGeom prst="roundRect">
            <a:avLst>
              <a:gd name="adj" fmla="val 48387"/>
            </a:avLst>
          </a:prstGeom>
          <a:solidFill>
            <a:srgbClr val="EEF5F5"/>
          </a:solidFill>
          <a:ln w="12700">
            <a:solidFill>
              <a:srgbClr val="EEF5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5"/>
          <p:cNvSpPr txBox="1"/>
          <p:nvPr/>
        </p:nvSpPr>
        <p:spPr>
          <a:xfrm>
            <a:off x="960119" y="4041647"/>
            <a:ext cx="1600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季节因素</a:t>
            </a:r>
          </a:p>
        </p:txBody>
      </p:sp>
      <p:sp>
        <p:nvSpPr>
          <p:cNvPr id="102" name="Text 16"/>
          <p:cNvSpPr txBox="1"/>
          <p:nvPr/>
        </p:nvSpPr>
        <p:spPr>
          <a:xfrm>
            <a:off x="2743200" y="4050791"/>
            <a:ext cx="9144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x₃ = 0.2</a:t>
            </a:r>
          </a:p>
        </p:txBody>
      </p:sp>
      <p:sp>
        <p:nvSpPr>
          <p:cNvPr id="103" name="Text 17"/>
          <p:cNvSpPr txBox="1"/>
          <p:nvPr/>
        </p:nvSpPr>
        <p:spPr>
          <a:xfrm>
            <a:off x="3886199" y="4050791"/>
            <a:ext cx="7772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× −0.4</a:t>
            </a:r>
          </a:p>
        </p:txBody>
      </p:sp>
      <p:sp>
        <p:nvSpPr>
          <p:cNvPr id="104" name="Text 18"/>
          <p:cNvSpPr txBox="1"/>
          <p:nvPr/>
        </p:nvSpPr>
        <p:spPr>
          <a:xfrm>
            <a:off x="960120" y="4736591"/>
            <a:ext cx="38404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z = 0.8 + 0.05 − 0.08 + b</a:t>
            </a:r>
          </a:p>
        </p:txBody>
      </p:sp>
      <p:sp>
        <p:nvSpPr>
          <p:cNvPr id="105" name="Text 19"/>
          <p:cNvSpPr txBox="1"/>
          <p:nvPr/>
        </p:nvSpPr>
        <p:spPr>
          <a:xfrm>
            <a:off x="960119" y="5120640"/>
            <a:ext cx="3200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ReLU(z) = max(0, z)</a:t>
            </a:r>
          </a:p>
        </p:txBody>
      </p:sp>
      <p:sp>
        <p:nvSpPr>
          <p:cNvPr id="106" name="Shape 20"/>
          <p:cNvSpPr/>
          <p:nvPr/>
        </p:nvSpPr>
        <p:spPr>
          <a:xfrm>
            <a:off x="6492240" y="1554480"/>
            <a:ext cx="4983481" cy="438912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Text 21"/>
          <p:cNvSpPr txBox="1"/>
          <p:nvPr/>
        </p:nvSpPr>
        <p:spPr>
          <a:xfrm>
            <a:off x="6766559" y="1828800"/>
            <a:ext cx="32004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为什么需要激活函数？</a:t>
            </a:r>
          </a:p>
        </p:txBody>
      </p:sp>
      <p:sp>
        <p:nvSpPr>
          <p:cNvPr id="108" name="Shape 22"/>
          <p:cNvSpPr/>
          <p:nvPr/>
        </p:nvSpPr>
        <p:spPr>
          <a:xfrm>
            <a:off x="7178040" y="4892040"/>
            <a:ext cx="3703321" cy="1"/>
          </a:xfrm>
          <a:prstGeom prst="line">
            <a:avLst/>
          </a:prstGeom>
          <a:ln w="1524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23"/>
          <p:cNvSpPr/>
          <p:nvPr/>
        </p:nvSpPr>
        <p:spPr>
          <a:xfrm>
            <a:off x="8732519" y="2697479"/>
            <a:ext cx="1" cy="2560321"/>
          </a:xfrm>
          <a:prstGeom prst="line">
            <a:avLst/>
          </a:prstGeom>
          <a:ln w="1524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hape 24"/>
          <p:cNvSpPr/>
          <p:nvPr/>
        </p:nvSpPr>
        <p:spPr>
          <a:xfrm>
            <a:off x="8727440" y="4892040"/>
            <a:ext cx="1325881" cy="1"/>
          </a:xfrm>
          <a:prstGeom prst="line">
            <a:avLst/>
          </a:prstGeom>
          <a:ln w="4445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25"/>
          <p:cNvSpPr/>
          <p:nvPr/>
        </p:nvSpPr>
        <p:spPr>
          <a:xfrm>
            <a:off x="7174021" y="2874391"/>
            <a:ext cx="1554481" cy="2011680"/>
          </a:xfrm>
          <a:prstGeom prst="line">
            <a:avLst/>
          </a:prstGeom>
          <a:ln w="4445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26"/>
          <p:cNvSpPr txBox="1"/>
          <p:nvPr/>
        </p:nvSpPr>
        <p:spPr>
          <a:xfrm>
            <a:off x="8891596" y="5078730"/>
            <a:ext cx="1417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z &lt; 0：输出 0</a:t>
            </a:r>
          </a:p>
        </p:txBody>
      </p:sp>
      <p:sp>
        <p:nvSpPr>
          <p:cNvPr id="113" name="Text 27"/>
          <p:cNvSpPr txBox="1"/>
          <p:nvPr/>
        </p:nvSpPr>
        <p:spPr>
          <a:xfrm>
            <a:off x="7105441" y="2344801"/>
            <a:ext cx="1691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z &gt; 0：原样放行</a:t>
            </a:r>
          </a:p>
        </p:txBody>
      </p:sp>
      <p:sp>
        <p:nvSpPr>
          <p:cNvPr id="114" name="Text 28"/>
          <p:cNvSpPr txBox="1"/>
          <p:nvPr/>
        </p:nvSpPr>
        <p:spPr>
          <a:xfrm>
            <a:off x="6839712" y="5486400"/>
            <a:ext cx="429768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没有非线性，多层线性计算仍可合并成一层。</a:t>
            </a:r>
          </a:p>
        </p:txBody>
      </p:sp>
      <p:sp>
        <p:nvSpPr>
          <p:cNvPr id="115" name="Text 29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03 · 网络结构</a:t>
            </a:r>
          </a:p>
        </p:txBody>
      </p:sp>
      <p:sp>
        <p:nvSpPr>
          <p:cNvPr id="120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卷积网络：把“人看局部线索”总结成结构</a:t>
            </a:r>
          </a:p>
        </p:txBody>
      </p:sp>
      <p:sp>
        <p:nvSpPr>
          <p:cNvPr id="121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"/>
          <p:cNvSpPr txBox="1"/>
          <p:nvPr/>
        </p:nvSpPr>
        <p:spPr>
          <a:xfrm>
            <a:off x="731519" y="1389888"/>
            <a:ext cx="10789922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</a:defRPr>
            </a:lvl1pPr>
          </a:lstStyle>
          <a:p>
            <a:pPr/>
            <a:r>
              <a:t>人看一张图时，不需要同时处理每个像素；先找局部线索，再把线索组合成整体。卷积网络把这个现象写进了结构。</a:t>
            </a:r>
          </a:p>
        </p:txBody>
      </p:sp>
      <p:sp>
        <p:nvSpPr>
          <p:cNvPr id="123" name="Shape 4"/>
          <p:cNvSpPr/>
          <p:nvPr/>
        </p:nvSpPr>
        <p:spPr>
          <a:xfrm>
            <a:off x="731519" y="1993392"/>
            <a:ext cx="2926081" cy="3429001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6EE7F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Text 5"/>
          <p:cNvSpPr txBox="1"/>
          <p:nvPr/>
        </p:nvSpPr>
        <p:spPr>
          <a:xfrm>
            <a:off x="1005839" y="2267711"/>
            <a:ext cx="23317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人类视觉：先看一小块</a:t>
            </a:r>
          </a:p>
        </p:txBody>
      </p:sp>
      <p:sp>
        <p:nvSpPr>
          <p:cNvPr id="125" name="Shape 6"/>
          <p:cNvSpPr/>
          <p:nvPr/>
        </p:nvSpPr>
        <p:spPr>
          <a:xfrm>
            <a:off x="1170432" y="2816351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7"/>
          <p:cNvSpPr/>
          <p:nvPr/>
        </p:nvSpPr>
        <p:spPr>
          <a:xfrm>
            <a:off x="1481327" y="2816351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8"/>
          <p:cNvSpPr/>
          <p:nvPr/>
        </p:nvSpPr>
        <p:spPr>
          <a:xfrm>
            <a:off x="1792223" y="2816351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9"/>
          <p:cNvSpPr/>
          <p:nvPr/>
        </p:nvSpPr>
        <p:spPr>
          <a:xfrm>
            <a:off x="2103120" y="2816351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10"/>
          <p:cNvSpPr/>
          <p:nvPr/>
        </p:nvSpPr>
        <p:spPr>
          <a:xfrm>
            <a:off x="2414016" y="2816351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1"/>
          <p:cNvSpPr/>
          <p:nvPr/>
        </p:nvSpPr>
        <p:spPr>
          <a:xfrm>
            <a:off x="2724911" y="2816351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hape 12"/>
          <p:cNvSpPr/>
          <p:nvPr/>
        </p:nvSpPr>
        <p:spPr>
          <a:xfrm>
            <a:off x="3035807" y="2816351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13"/>
          <p:cNvSpPr/>
          <p:nvPr/>
        </p:nvSpPr>
        <p:spPr>
          <a:xfrm>
            <a:off x="1170432" y="312724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4"/>
          <p:cNvSpPr/>
          <p:nvPr/>
        </p:nvSpPr>
        <p:spPr>
          <a:xfrm>
            <a:off x="1481327" y="312724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15"/>
          <p:cNvSpPr/>
          <p:nvPr/>
        </p:nvSpPr>
        <p:spPr>
          <a:xfrm>
            <a:off x="1792223" y="3127248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16"/>
          <p:cNvSpPr/>
          <p:nvPr/>
        </p:nvSpPr>
        <p:spPr>
          <a:xfrm>
            <a:off x="2103120" y="312724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17"/>
          <p:cNvSpPr/>
          <p:nvPr/>
        </p:nvSpPr>
        <p:spPr>
          <a:xfrm>
            <a:off x="2414016" y="312724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18"/>
          <p:cNvSpPr/>
          <p:nvPr/>
        </p:nvSpPr>
        <p:spPr>
          <a:xfrm>
            <a:off x="2724911" y="3127248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19"/>
          <p:cNvSpPr/>
          <p:nvPr/>
        </p:nvSpPr>
        <p:spPr>
          <a:xfrm>
            <a:off x="3035807" y="312724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20"/>
          <p:cNvSpPr/>
          <p:nvPr/>
        </p:nvSpPr>
        <p:spPr>
          <a:xfrm>
            <a:off x="1170432" y="3438144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21"/>
          <p:cNvSpPr/>
          <p:nvPr/>
        </p:nvSpPr>
        <p:spPr>
          <a:xfrm>
            <a:off x="1481327" y="3438144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22"/>
          <p:cNvSpPr/>
          <p:nvPr/>
        </p:nvSpPr>
        <p:spPr>
          <a:xfrm>
            <a:off x="1792223" y="3438144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23"/>
          <p:cNvSpPr/>
          <p:nvPr/>
        </p:nvSpPr>
        <p:spPr>
          <a:xfrm>
            <a:off x="2103120" y="3438144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24"/>
          <p:cNvSpPr/>
          <p:nvPr/>
        </p:nvSpPr>
        <p:spPr>
          <a:xfrm>
            <a:off x="2414016" y="3438144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25"/>
          <p:cNvSpPr/>
          <p:nvPr/>
        </p:nvSpPr>
        <p:spPr>
          <a:xfrm>
            <a:off x="2724911" y="3438144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26"/>
          <p:cNvSpPr/>
          <p:nvPr/>
        </p:nvSpPr>
        <p:spPr>
          <a:xfrm>
            <a:off x="3035807" y="3438144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27"/>
          <p:cNvSpPr/>
          <p:nvPr/>
        </p:nvSpPr>
        <p:spPr>
          <a:xfrm>
            <a:off x="1170432" y="3749040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28"/>
          <p:cNvSpPr/>
          <p:nvPr/>
        </p:nvSpPr>
        <p:spPr>
          <a:xfrm>
            <a:off x="1481327" y="3749040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29"/>
          <p:cNvSpPr/>
          <p:nvPr/>
        </p:nvSpPr>
        <p:spPr>
          <a:xfrm>
            <a:off x="1792223" y="3749040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30"/>
          <p:cNvSpPr/>
          <p:nvPr/>
        </p:nvSpPr>
        <p:spPr>
          <a:xfrm>
            <a:off x="2103120" y="3749040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31"/>
          <p:cNvSpPr/>
          <p:nvPr/>
        </p:nvSpPr>
        <p:spPr>
          <a:xfrm>
            <a:off x="2414016" y="3749040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32"/>
          <p:cNvSpPr/>
          <p:nvPr/>
        </p:nvSpPr>
        <p:spPr>
          <a:xfrm>
            <a:off x="2724911" y="3749040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33"/>
          <p:cNvSpPr/>
          <p:nvPr/>
        </p:nvSpPr>
        <p:spPr>
          <a:xfrm>
            <a:off x="3035807" y="3749040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34"/>
          <p:cNvSpPr/>
          <p:nvPr/>
        </p:nvSpPr>
        <p:spPr>
          <a:xfrm>
            <a:off x="1170432" y="4059935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35"/>
          <p:cNvSpPr/>
          <p:nvPr/>
        </p:nvSpPr>
        <p:spPr>
          <a:xfrm>
            <a:off x="1481327" y="4059935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hape 36"/>
          <p:cNvSpPr/>
          <p:nvPr/>
        </p:nvSpPr>
        <p:spPr>
          <a:xfrm>
            <a:off x="1792223" y="4059935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Shape 37"/>
          <p:cNvSpPr/>
          <p:nvPr/>
        </p:nvSpPr>
        <p:spPr>
          <a:xfrm>
            <a:off x="2103120" y="4059935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Shape 38"/>
          <p:cNvSpPr/>
          <p:nvPr/>
        </p:nvSpPr>
        <p:spPr>
          <a:xfrm>
            <a:off x="2414016" y="4059935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Shape 39"/>
          <p:cNvSpPr/>
          <p:nvPr/>
        </p:nvSpPr>
        <p:spPr>
          <a:xfrm>
            <a:off x="2724911" y="4059935"/>
            <a:ext cx="301753" cy="301753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40"/>
          <p:cNvSpPr/>
          <p:nvPr/>
        </p:nvSpPr>
        <p:spPr>
          <a:xfrm>
            <a:off x="3035807" y="4059935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41"/>
          <p:cNvSpPr/>
          <p:nvPr/>
        </p:nvSpPr>
        <p:spPr>
          <a:xfrm>
            <a:off x="1170432" y="4370832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42"/>
          <p:cNvSpPr/>
          <p:nvPr/>
        </p:nvSpPr>
        <p:spPr>
          <a:xfrm>
            <a:off x="1481327" y="4370832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43"/>
          <p:cNvSpPr/>
          <p:nvPr/>
        </p:nvSpPr>
        <p:spPr>
          <a:xfrm>
            <a:off x="1792223" y="4370832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44"/>
          <p:cNvSpPr/>
          <p:nvPr/>
        </p:nvSpPr>
        <p:spPr>
          <a:xfrm>
            <a:off x="2103120" y="4370832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45"/>
          <p:cNvSpPr/>
          <p:nvPr/>
        </p:nvSpPr>
        <p:spPr>
          <a:xfrm>
            <a:off x="2414016" y="4370832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46"/>
          <p:cNvSpPr/>
          <p:nvPr/>
        </p:nvSpPr>
        <p:spPr>
          <a:xfrm>
            <a:off x="2724911" y="4370832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Shape 47"/>
          <p:cNvSpPr/>
          <p:nvPr/>
        </p:nvSpPr>
        <p:spPr>
          <a:xfrm>
            <a:off x="3035807" y="4370832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hape 48"/>
          <p:cNvSpPr/>
          <p:nvPr/>
        </p:nvSpPr>
        <p:spPr>
          <a:xfrm>
            <a:off x="1170432" y="4681728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49"/>
          <p:cNvSpPr/>
          <p:nvPr/>
        </p:nvSpPr>
        <p:spPr>
          <a:xfrm>
            <a:off x="1481327" y="468172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50"/>
          <p:cNvSpPr/>
          <p:nvPr/>
        </p:nvSpPr>
        <p:spPr>
          <a:xfrm>
            <a:off x="1792223" y="468172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51"/>
          <p:cNvSpPr/>
          <p:nvPr/>
        </p:nvSpPr>
        <p:spPr>
          <a:xfrm>
            <a:off x="2103120" y="4681728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52"/>
          <p:cNvSpPr/>
          <p:nvPr/>
        </p:nvSpPr>
        <p:spPr>
          <a:xfrm>
            <a:off x="2414016" y="468172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53"/>
          <p:cNvSpPr/>
          <p:nvPr/>
        </p:nvSpPr>
        <p:spPr>
          <a:xfrm>
            <a:off x="2724911" y="4681728"/>
            <a:ext cx="301753" cy="301753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54"/>
          <p:cNvSpPr/>
          <p:nvPr/>
        </p:nvSpPr>
        <p:spPr>
          <a:xfrm>
            <a:off x="3035807" y="4681728"/>
            <a:ext cx="301753" cy="301753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55"/>
          <p:cNvSpPr txBox="1"/>
          <p:nvPr/>
        </p:nvSpPr>
        <p:spPr>
          <a:xfrm>
            <a:off x="1143000" y="5102352"/>
            <a:ext cx="22402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局部感受野</a:t>
            </a:r>
          </a:p>
        </p:txBody>
      </p:sp>
      <p:sp>
        <p:nvSpPr>
          <p:cNvPr id="175" name="Shape 56"/>
          <p:cNvSpPr/>
          <p:nvPr/>
        </p:nvSpPr>
        <p:spPr>
          <a:xfrm>
            <a:off x="3913632" y="3474720"/>
            <a:ext cx="438913" cy="292609"/>
          </a:xfrm>
          <a:prstGeom prst="chevron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57"/>
          <p:cNvSpPr/>
          <p:nvPr/>
        </p:nvSpPr>
        <p:spPr>
          <a:xfrm>
            <a:off x="4480559" y="1993392"/>
            <a:ext cx="3063241" cy="3429001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Text 58"/>
          <p:cNvSpPr txBox="1"/>
          <p:nvPr/>
        </p:nvSpPr>
        <p:spPr>
          <a:xfrm>
            <a:off x="4754879" y="2267711"/>
            <a:ext cx="2514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工程化结构：卷积核扫描</a:t>
            </a:r>
          </a:p>
        </p:txBody>
      </p:sp>
      <p:sp>
        <p:nvSpPr>
          <p:cNvPr id="178" name="Shape 59"/>
          <p:cNvSpPr/>
          <p:nvPr/>
        </p:nvSpPr>
        <p:spPr>
          <a:xfrm>
            <a:off x="4892040" y="2862072"/>
            <a:ext cx="292609" cy="292609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Shape 60"/>
          <p:cNvSpPr/>
          <p:nvPr/>
        </p:nvSpPr>
        <p:spPr>
          <a:xfrm>
            <a:off x="5193791" y="2862072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61"/>
          <p:cNvSpPr/>
          <p:nvPr/>
        </p:nvSpPr>
        <p:spPr>
          <a:xfrm>
            <a:off x="5495544" y="2862072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Shape 62"/>
          <p:cNvSpPr/>
          <p:nvPr/>
        </p:nvSpPr>
        <p:spPr>
          <a:xfrm>
            <a:off x="5797296" y="2862072"/>
            <a:ext cx="292609" cy="292609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63"/>
          <p:cNvSpPr/>
          <p:nvPr/>
        </p:nvSpPr>
        <p:spPr>
          <a:xfrm>
            <a:off x="6099047" y="2862072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Shape 64"/>
          <p:cNvSpPr/>
          <p:nvPr/>
        </p:nvSpPr>
        <p:spPr>
          <a:xfrm>
            <a:off x="4892040" y="3163823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65"/>
          <p:cNvSpPr/>
          <p:nvPr/>
        </p:nvSpPr>
        <p:spPr>
          <a:xfrm>
            <a:off x="5193791" y="3163823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66"/>
          <p:cNvSpPr/>
          <p:nvPr/>
        </p:nvSpPr>
        <p:spPr>
          <a:xfrm>
            <a:off x="5495544" y="3163823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67"/>
          <p:cNvSpPr/>
          <p:nvPr/>
        </p:nvSpPr>
        <p:spPr>
          <a:xfrm>
            <a:off x="5797296" y="3163823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hape 68"/>
          <p:cNvSpPr/>
          <p:nvPr/>
        </p:nvSpPr>
        <p:spPr>
          <a:xfrm>
            <a:off x="6099047" y="3163823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Shape 69"/>
          <p:cNvSpPr/>
          <p:nvPr/>
        </p:nvSpPr>
        <p:spPr>
          <a:xfrm>
            <a:off x="4892040" y="3465576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Shape 70"/>
          <p:cNvSpPr/>
          <p:nvPr/>
        </p:nvSpPr>
        <p:spPr>
          <a:xfrm>
            <a:off x="5193791" y="3465576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71"/>
          <p:cNvSpPr/>
          <p:nvPr/>
        </p:nvSpPr>
        <p:spPr>
          <a:xfrm>
            <a:off x="5495544" y="3465576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72"/>
          <p:cNvSpPr/>
          <p:nvPr/>
        </p:nvSpPr>
        <p:spPr>
          <a:xfrm>
            <a:off x="5797296" y="3465576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73"/>
          <p:cNvSpPr/>
          <p:nvPr/>
        </p:nvSpPr>
        <p:spPr>
          <a:xfrm>
            <a:off x="6099047" y="3465576"/>
            <a:ext cx="292609" cy="292609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74"/>
          <p:cNvSpPr/>
          <p:nvPr/>
        </p:nvSpPr>
        <p:spPr>
          <a:xfrm>
            <a:off x="4892040" y="3767328"/>
            <a:ext cx="292609" cy="292609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75"/>
          <p:cNvSpPr/>
          <p:nvPr/>
        </p:nvSpPr>
        <p:spPr>
          <a:xfrm>
            <a:off x="5193791" y="3767328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76"/>
          <p:cNvSpPr/>
          <p:nvPr/>
        </p:nvSpPr>
        <p:spPr>
          <a:xfrm>
            <a:off x="5495544" y="3767328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77"/>
          <p:cNvSpPr/>
          <p:nvPr/>
        </p:nvSpPr>
        <p:spPr>
          <a:xfrm>
            <a:off x="5797296" y="3767328"/>
            <a:ext cx="292609" cy="292609"/>
          </a:xfrm>
          <a:prstGeom prst="rect">
            <a:avLst/>
          </a:prstGeom>
          <a:solidFill>
            <a:srgbClr val="FF7A59"/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Shape 78"/>
          <p:cNvSpPr/>
          <p:nvPr/>
        </p:nvSpPr>
        <p:spPr>
          <a:xfrm>
            <a:off x="6099047" y="3767328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79"/>
          <p:cNvSpPr/>
          <p:nvPr/>
        </p:nvSpPr>
        <p:spPr>
          <a:xfrm>
            <a:off x="4892040" y="4069079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80"/>
          <p:cNvSpPr/>
          <p:nvPr/>
        </p:nvSpPr>
        <p:spPr>
          <a:xfrm>
            <a:off x="5193791" y="4069079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hape 81"/>
          <p:cNvSpPr/>
          <p:nvPr/>
        </p:nvSpPr>
        <p:spPr>
          <a:xfrm>
            <a:off x="5495544" y="4069079"/>
            <a:ext cx="292609" cy="292609"/>
          </a:xfrm>
          <a:prstGeom prst="rect">
            <a:avLst/>
          </a:prstGeom>
          <a:solidFill>
            <a:srgbClr val="6EE7F9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82"/>
          <p:cNvSpPr/>
          <p:nvPr/>
        </p:nvSpPr>
        <p:spPr>
          <a:xfrm>
            <a:off x="5797296" y="4069079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83"/>
          <p:cNvSpPr/>
          <p:nvPr/>
        </p:nvSpPr>
        <p:spPr>
          <a:xfrm>
            <a:off x="6099047" y="4069079"/>
            <a:ext cx="292609" cy="292609"/>
          </a:xfrm>
          <a:prstGeom prst="rect">
            <a:avLst/>
          </a:prstGeom>
          <a:solidFill>
            <a:srgbClr val="E8EFF2">
              <a:alpha val="82000"/>
            </a:srgbClr>
          </a:solidFill>
          <a:ln w="6350">
            <a:solidFill>
              <a:srgbClr val="FFFFFF">
                <a:alpha val="64999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84"/>
          <p:cNvSpPr txBox="1"/>
          <p:nvPr/>
        </p:nvSpPr>
        <p:spPr>
          <a:xfrm>
            <a:off x="4736591" y="4919471"/>
            <a:ext cx="2606041" cy="393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3×3 小窗口反复共享同一组权重</a:t>
            </a:r>
          </a:p>
        </p:txBody>
      </p:sp>
      <p:sp>
        <p:nvSpPr>
          <p:cNvPr id="204" name="Shape 85"/>
          <p:cNvSpPr/>
          <p:nvPr/>
        </p:nvSpPr>
        <p:spPr>
          <a:xfrm>
            <a:off x="7818119" y="3474720"/>
            <a:ext cx="438913" cy="292609"/>
          </a:xfrm>
          <a:prstGeom prst="chevron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86"/>
          <p:cNvSpPr/>
          <p:nvPr/>
        </p:nvSpPr>
        <p:spPr>
          <a:xfrm>
            <a:off x="8394192" y="1993392"/>
            <a:ext cx="3108961" cy="3429001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Text 87"/>
          <p:cNvSpPr txBox="1"/>
          <p:nvPr/>
        </p:nvSpPr>
        <p:spPr>
          <a:xfrm>
            <a:off x="8668511" y="2267711"/>
            <a:ext cx="2560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逐层组合：从边缘到整体</a:t>
            </a:r>
          </a:p>
        </p:txBody>
      </p:sp>
      <p:sp>
        <p:nvSpPr>
          <p:cNvPr id="207" name="Shape 88"/>
          <p:cNvSpPr/>
          <p:nvPr/>
        </p:nvSpPr>
        <p:spPr>
          <a:xfrm>
            <a:off x="8732519" y="2834639"/>
            <a:ext cx="1097281" cy="283465"/>
          </a:xfrm>
          <a:prstGeom prst="roundRect">
            <a:avLst>
              <a:gd name="adj" fmla="val 48387"/>
            </a:avLst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89"/>
          <p:cNvSpPr txBox="1"/>
          <p:nvPr/>
        </p:nvSpPr>
        <p:spPr>
          <a:xfrm>
            <a:off x="8732519" y="2880360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边缘</a:t>
            </a:r>
          </a:p>
        </p:txBody>
      </p:sp>
      <p:sp>
        <p:nvSpPr>
          <p:cNvPr id="209" name="Shape 90"/>
          <p:cNvSpPr/>
          <p:nvPr/>
        </p:nvSpPr>
        <p:spPr>
          <a:xfrm>
            <a:off x="9966959" y="2907792"/>
            <a:ext cx="256033" cy="164593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91"/>
          <p:cNvSpPr/>
          <p:nvPr/>
        </p:nvSpPr>
        <p:spPr>
          <a:xfrm>
            <a:off x="8878823" y="3337559"/>
            <a:ext cx="1325881" cy="283465"/>
          </a:xfrm>
          <a:prstGeom prst="roundRect">
            <a:avLst>
              <a:gd name="adj" fmla="val 48387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92"/>
          <p:cNvSpPr txBox="1"/>
          <p:nvPr/>
        </p:nvSpPr>
        <p:spPr>
          <a:xfrm>
            <a:off x="8878823" y="3383279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角点 / 纹理</a:t>
            </a:r>
          </a:p>
        </p:txBody>
      </p:sp>
      <p:sp>
        <p:nvSpPr>
          <p:cNvPr id="212" name="Shape 93"/>
          <p:cNvSpPr/>
          <p:nvPr/>
        </p:nvSpPr>
        <p:spPr>
          <a:xfrm>
            <a:off x="10113264" y="3410711"/>
            <a:ext cx="256033" cy="164593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94"/>
          <p:cNvSpPr/>
          <p:nvPr/>
        </p:nvSpPr>
        <p:spPr>
          <a:xfrm>
            <a:off x="9025128" y="3840479"/>
            <a:ext cx="1554481" cy="283465"/>
          </a:xfrm>
          <a:prstGeom prst="roundRect">
            <a:avLst>
              <a:gd name="adj" fmla="val 48387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95"/>
          <p:cNvSpPr txBox="1"/>
          <p:nvPr/>
        </p:nvSpPr>
        <p:spPr>
          <a:xfrm>
            <a:off x="9025128" y="3886200"/>
            <a:ext cx="15544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眼睛 / 轮廓</a:t>
            </a:r>
          </a:p>
        </p:txBody>
      </p:sp>
      <p:sp>
        <p:nvSpPr>
          <p:cNvPr id="215" name="Shape 96"/>
          <p:cNvSpPr/>
          <p:nvPr/>
        </p:nvSpPr>
        <p:spPr>
          <a:xfrm>
            <a:off x="10259568" y="3913632"/>
            <a:ext cx="256033" cy="164593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97"/>
          <p:cNvSpPr/>
          <p:nvPr/>
        </p:nvSpPr>
        <p:spPr>
          <a:xfrm>
            <a:off x="9171431" y="4343400"/>
            <a:ext cx="1783081" cy="283464"/>
          </a:xfrm>
          <a:prstGeom prst="roundRect">
            <a:avLst>
              <a:gd name="adj" fmla="val 4838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98"/>
          <p:cNvSpPr txBox="1"/>
          <p:nvPr/>
        </p:nvSpPr>
        <p:spPr>
          <a:xfrm>
            <a:off x="9171431" y="4389120"/>
            <a:ext cx="17830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物体</a:t>
            </a:r>
          </a:p>
        </p:txBody>
      </p:sp>
      <p:sp>
        <p:nvSpPr>
          <p:cNvPr id="218" name="Text 99"/>
          <p:cNvSpPr txBox="1"/>
          <p:nvPr/>
        </p:nvSpPr>
        <p:spPr>
          <a:xfrm>
            <a:off x="1874519" y="5806440"/>
            <a:ext cx="8412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结论：结构不是凭空发明，而是对现实现象的工程化总结。</a:t>
            </a:r>
          </a:p>
        </p:txBody>
      </p:sp>
      <p:sp>
        <p:nvSpPr>
          <p:cNvPr id="219" name="Text 100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04 · 从现象到实现</a:t>
            </a:r>
          </a:p>
        </p:txBody>
      </p:sp>
      <p:sp>
        <p:nvSpPr>
          <p:cNvPr id="224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卷积网络怎样一步步把图片变成分类结果</a:t>
            </a:r>
          </a:p>
        </p:txBody>
      </p:sp>
      <p:sp>
        <p:nvSpPr>
          <p:cNvPr id="225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Shape 3"/>
          <p:cNvSpPr/>
          <p:nvPr/>
        </p:nvSpPr>
        <p:spPr>
          <a:xfrm>
            <a:off x="640080" y="2148839"/>
            <a:ext cx="1874521" cy="20574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6EE7F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Shape 4"/>
          <p:cNvSpPr/>
          <p:nvPr/>
        </p:nvSpPr>
        <p:spPr>
          <a:xfrm>
            <a:off x="1399032" y="2423160"/>
            <a:ext cx="347473" cy="347473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5"/>
          <p:cNvSpPr txBox="1"/>
          <p:nvPr/>
        </p:nvSpPr>
        <p:spPr>
          <a:xfrm>
            <a:off x="1399032" y="2496311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9" name="Text 6"/>
          <p:cNvSpPr txBox="1"/>
          <p:nvPr/>
        </p:nvSpPr>
        <p:spPr>
          <a:xfrm>
            <a:off x="777240" y="2971800"/>
            <a:ext cx="1600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28×28 图片</a:t>
            </a:r>
          </a:p>
        </p:txBody>
      </p:sp>
      <p:sp>
        <p:nvSpPr>
          <p:cNvPr id="230" name="Text 7"/>
          <p:cNvSpPr txBox="1"/>
          <p:nvPr/>
        </p:nvSpPr>
        <p:spPr>
          <a:xfrm>
            <a:off x="804671" y="3493008"/>
            <a:ext cx="155448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原始像素</a:t>
            </a:r>
          </a:p>
        </p:txBody>
      </p:sp>
      <p:sp>
        <p:nvSpPr>
          <p:cNvPr id="231" name="Shape 8"/>
          <p:cNvSpPr/>
          <p:nvPr/>
        </p:nvSpPr>
        <p:spPr>
          <a:xfrm>
            <a:off x="2578607" y="3063239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9"/>
          <p:cNvSpPr/>
          <p:nvPr/>
        </p:nvSpPr>
        <p:spPr>
          <a:xfrm>
            <a:off x="2926079" y="2148839"/>
            <a:ext cx="1874521" cy="20574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" name="Shape 10"/>
          <p:cNvSpPr/>
          <p:nvPr/>
        </p:nvSpPr>
        <p:spPr>
          <a:xfrm>
            <a:off x="3685032" y="2423160"/>
            <a:ext cx="347473" cy="347473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1"/>
          <p:cNvSpPr txBox="1"/>
          <p:nvPr/>
        </p:nvSpPr>
        <p:spPr>
          <a:xfrm>
            <a:off x="3685032" y="2496311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5" name="Text 12"/>
          <p:cNvSpPr txBox="1"/>
          <p:nvPr/>
        </p:nvSpPr>
        <p:spPr>
          <a:xfrm>
            <a:off x="3063239" y="2971800"/>
            <a:ext cx="1600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3×3 卷积</a:t>
            </a:r>
          </a:p>
        </p:txBody>
      </p:sp>
      <p:sp>
        <p:nvSpPr>
          <p:cNvPr id="236" name="Text 13"/>
          <p:cNvSpPr txBox="1"/>
          <p:nvPr/>
        </p:nvSpPr>
        <p:spPr>
          <a:xfrm>
            <a:off x="3090671" y="3493008"/>
            <a:ext cx="155448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识别局部边缘</a:t>
            </a:r>
          </a:p>
        </p:txBody>
      </p:sp>
      <p:sp>
        <p:nvSpPr>
          <p:cNvPr id="237" name="Shape 14"/>
          <p:cNvSpPr/>
          <p:nvPr/>
        </p:nvSpPr>
        <p:spPr>
          <a:xfrm>
            <a:off x="4864608" y="3063239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5"/>
          <p:cNvSpPr/>
          <p:nvPr/>
        </p:nvSpPr>
        <p:spPr>
          <a:xfrm>
            <a:off x="5212079" y="2148839"/>
            <a:ext cx="1874521" cy="20574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Shape 16"/>
          <p:cNvSpPr/>
          <p:nvPr/>
        </p:nvSpPr>
        <p:spPr>
          <a:xfrm>
            <a:off x="5971032" y="2423160"/>
            <a:ext cx="347473" cy="347473"/>
          </a:xfrm>
          <a:prstGeom prst="ellipse">
            <a:avLst/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17"/>
          <p:cNvSpPr txBox="1"/>
          <p:nvPr/>
        </p:nvSpPr>
        <p:spPr>
          <a:xfrm>
            <a:off x="5971032" y="2496311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1" name="Text 18"/>
          <p:cNvSpPr txBox="1"/>
          <p:nvPr/>
        </p:nvSpPr>
        <p:spPr>
          <a:xfrm>
            <a:off x="5349240" y="2971800"/>
            <a:ext cx="1600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特征图</a:t>
            </a:r>
          </a:p>
        </p:txBody>
      </p:sp>
      <p:sp>
        <p:nvSpPr>
          <p:cNvPr id="242" name="Text 19"/>
          <p:cNvSpPr txBox="1"/>
          <p:nvPr/>
        </p:nvSpPr>
        <p:spPr>
          <a:xfrm>
            <a:off x="5376671" y="3493008"/>
            <a:ext cx="15544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边缘位置保留下来</a:t>
            </a:r>
          </a:p>
        </p:txBody>
      </p:sp>
      <p:sp>
        <p:nvSpPr>
          <p:cNvPr id="243" name="Shape 20"/>
          <p:cNvSpPr/>
          <p:nvPr/>
        </p:nvSpPr>
        <p:spPr>
          <a:xfrm>
            <a:off x="7150607" y="3063239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Shape 21"/>
          <p:cNvSpPr/>
          <p:nvPr/>
        </p:nvSpPr>
        <p:spPr>
          <a:xfrm>
            <a:off x="7498080" y="2148839"/>
            <a:ext cx="1874521" cy="20574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FFC857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" name="Shape 22"/>
          <p:cNvSpPr/>
          <p:nvPr/>
        </p:nvSpPr>
        <p:spPr>
          <a:xfrm>
            <a:off x="8257031" y="2423160"/>
            <a:ext cx="347473" cy="347473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23"/>
          <p:cNvSpPr txBox="1"/>
          <p:nvPr/>
        </p:nvSpPr>
        <p:spPr>
          <a:xfrm>
            <a:off x="8257031" y="2496311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7" name="Text 24"/>
          <p:cNvSpPr txBox="1"/>
          <p:nvPr/>
        </p:nvSpPr>
        <p:spPr>
          <a:xfrm>
            <a:off x="7635240" y="2971800"/>
            <a:ext cx="1600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池化</a:t>
            </a:r>
          </a:p>
        </p:txBody>
      </p:sp>
      <p:sp>
        <p:nvSpPr>
          <p:cNvPr id="248" name="Text 25"/>
          <p:cNvSpPr txBox="1"/>
          <p:nvPr/>
        </p:nvSpPr>
        <p:spPr>
          <a:xfrm>
            <a:off x="7662671" y="3493008"/>
            <a:ext cx="15544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压缩尺寸，保留强信号</a:t>
            </a:r>
          </a:p>
        </p:txBody>
      </p:sp>
      <p:sp>
        <p:nvSpPr>
          <p:cNvPr id="249" name="Shape 26"/>
          <p:cNvSpPr/>
          <p:nvPr/>
        </p:nvSpPr>
        <p:spPr>
          <a:xfrm>
            <a:off x="9436607" y="3063239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hape 27"/>
          <p:cNvSpPr/>
          <p:nvPr/>
        </p:nvSpPr>
        <p:spPr>
          <a:xfrm>
            <a:off x="9784080" y="2148839"/>
            <a:ext cx="1874521" cy="205740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" name="Shape 28"/>
          <p:cNvSpPr/>
          <p:nvPr/>
        </p:nvSpPr>
        <p:spPr>
          <a:xfrm>
            <a:off x="10543031" y="2423160"/>
            <a:ext cx="347473" cy="347473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29"/>
          <p:cNvSpPr txBox="1"/>
          <p:nvPr/>
        </p:nvSpPr>
        <p:spPr>
          <a:xfrm>
            <a:off x="10543031" y="2496311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53" name="Text 30"/>
          <p:cNvSpPr txBox="1"/>
          <p:nvPr/>
        </p:nvSpPr>
        <p:spPr>
          <a:xfrm>
            <a:off x="9921240" y="2971800"/>
            <a:ext cx="1600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全连接</a:t>
            </a:r>
          </a:p>
        </p:txBody>
      </p:sp>
      <p:sp>
        <p:nvSpPr>
          <p:cNvPr id="254" name="Text 31"/>
          <p:cNvSpPr txBox="1"/>
          <p:nvPr/>
        </p:nvSpPr>
        <p:spPr>
          <a:xfrm>
            <a:off x="9948671" y="3493008"/>
            <a:ext cx="1554481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综合线索做分类</a:t>
            </a:r>
          </a:p>
        </p:txBody>
      </p:sp>
      <p:sp>
        <p:nvSpPr>
          <p:cNvPr id="255" name="Text 32"/>
          <p:cNvSpPr txBox="1"/>
          <p:nvPr/>
        </p:nvSpPr>
        <p:spPr>
          <a:xfrm>
            <a:off x="3337559" y="4937759"/>
            <a:ext cx="53035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77240">
              <a:defRPr sz="187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局部 → 组合 → 压缩 → 判断</a:t>
            </a:r>
          </a:p>
        </p:txBody>
      </p:sp>
      <p:sp>
        <p:nvSpPr>
          <p:cNvPr id="256" name="Text 33"/>
          <p:cNvSpPr txBox="1"/>
          <p:nvPr/>
        </p:nvSpPr>
        <p:spPr>
          <a:xfrm>
            <a:off x="914399" y="5669279"/>
            <a:ext cx="102412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不同任务采用不同结构：图像常利用空间局部性；文本需要处理序列和远距离关系。</a:t>
            </a:r>
          </a:p>
        </p:txBody>
      </p:sp>
      <p:sp>
        <p:nvSpPr>
          <p:cNvPr id="257" name="Text 34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05 · 注意力</a:t>
            </a:r>
          </a:p>
        </p:txBody>
      </p:sp>
      <p:sp>
        <p:nvSpPr>
          <p:cNvPr id="262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Transformer：让每个词计算“我该参考谁”</a:t>
            </a:r>
          </a:p>
        </p:txBody>
      </p:sp>
      <p:sp>
        <p:nvSpPr>
          <p:cNvPr id="263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3"/>
          <p:cNvSpPr txBox="1"/>
          <p:nvPr/>
        </p:nvSpPr>
        <p:spPr>
          <a:xfrm>
            <a:off x="713231" y="1428623"/>
            <a:ext cx="10698482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A9B5C6"/>
                </a:solidFill>
              </a:defRPr>
            </a:lvl1pPr>
          </a:lstStyle>
          <a:p>
            <a:pPr/>
            <a:r>
              <a:t>双向编码器示意：小明把书放进抽屉，因为它太重。这里“它”可以参考整句上下文。</a:t>
            </a:r>
          </a:p>
        </p:txBody>
      </p:sp>
      <p:sp>
        <p:nvSpPr>
          <p:cNvPr id="265" name="Shape 4"/>
          <p:cNvSpPr/>
          <p:nvPr/>
        </p:nvSpPr>
        <p:spPr>
          <a:xfrm>
            <a:off x="868680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5"/>
          <p:cNvSpPr txBox="1"/>
          <p:nvPr/>
        </p:nvSpPr>
        <p:spPr>
          <a:xfrm>
            <a:off x="868680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小明</a:t>
            </a:r>
          </a:p>
        </p:txBody>
      </p:sp>
      <p:sp>
        <p:nvSpPr>
          <p:cNvPr id="267" name="Shape 6"/>
          <p:cNvSpPr/>
          <p:nvPr/>
        </p:nvSpPr>
        <p:spPr>
          <a:xfrm>
            <a:off x="1801367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7"/>
          <p:cNvSpPr txBox="1"/>
          <p:nvPr/>
        </p:nvSpPr>
        <p:spPr>
          <a:xfrm>
            <a:off x="1801367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把</a:t>
            </a:r>
          </a:p>
        </p:txBody>
      </p:sp>
      <p:sp>
        <p:nvSpPr>
          <p:cNvPr id="269" name="Shape 8"/>
          <p:cNvSpPr/>
          <p:nvPr/>
        </p:nvSpPr>
        <p:spPr>
          <a:xfrm>
            <a:off x="2734055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9"/>
          <p:cNvSpPr txBox="1"/>
          <p:nvPr/>
        </p:nvSpPr>
        <p:spPr>
          <a:xfrm>
            <a:off x="2734055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书</a:t>
            </a:r>
          </a:p>
        </p:txBody>
      </p:sp>
      <p:sp>
        <p:nvSpPr>
          <p:cNvPr id="271" name="Shape 10"/>
          <p:cNvSpPr/>
          <p:nvPr/>
        </p:nvSpPr>
        <p:spPr>
          <a:xfrm>
            <a:off x="3666744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11"/>
          <p:cNvSpPr txBox="1"/>
          <p:nvPr/>
        </p:nvSpPr>
        <p:spPr>
          <a:xfrm>
            <a:off x="3666744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放进</a:t>
            </a:r>
          </a:p>
        </p:txBody>
      </p:sp>
      <p:sp>
        <p:nvSpPr>
          <p:cNvPr id="273" name="Shape 12"/>
          <p:cNvSpPr/>
          <p:nvPr/>
        </p:nvSpPr>
        <p:spPr>
          <a:xfrm>
            <a:off x="4599432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13"/>
          <p:cNvSpPr txBox="1"/>
          <p:nvPr/>
        </p:nvSpPr>
        <p:spPr>
          <a:xfrm>
            <a:off x="4599432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抽屉</a:t>
            </a:r>
          </a:p>
        </p:txBody>
      </p:sp>
      <p:sp>
        <p:nvSpPr>
          <p:cNvPr id="275" name="Shape 14"/>
          <p:cNvSpPr/>
          <p:nvPr/>
        </p:nvSpPr>
        <p:spPr>
          <a:xfrm>
            <a:off x="5532120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15"/>
          <p:cNvSpPr txBox="1"/>
          <p:nvPr/>
        </p:nvSpPr>
        <p:spPr>
          <a:xfrm>
            <a:off x="5532120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因为</a:t>
            </a:r>
          </a:p>
        </p:txBody>
      </p:sp>
      <p:sp>
        <p:nvSpPr>
          <p:cNvPr id="277" name="Shape 16"/>
          <p:cNvSpPr/>
          <p:nvPr/>
        </p:nvSpPr>
        <p:spPr>
          <a:xfrm>
            <a:off x="6464808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7"/>
          <p:cNvSpPr txBox="1"/>
          <p:nvPr/>
        </p:nvSpPr>
        <p:spPr>
          <a:xfrm>
            <a:off x="6464808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它</a:t>
            </a:r>
          </a:p>
        </p:txBody>
      </p:sp>
      <p:sp>
        <p:nvSpPr>
          <p:cNvPr id="279" name="Shape 18"/>
          <p:cNvSpPr/>
          <p:nvPr/>
        </p:nvSpPr>
        <p:spPr>
          <a:xfrm>
            <a:off x="7397495" y="2148839"/>
            <a:ext cx="749809" cy="457201"/>
          </a:xfrm>
          <a:prstGeom prst="roundRect">
            <a:avLst>
              <a:gd name="adj" fmla="val 20000"/>
            </a:avLst>
          </a:prstGeom>
          <a:solidFill>
            <a:srgbClr val="1A2454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19"/>
          <p:cNvSpPr txBox="1"/>
          <p:nvPr/>
        </p:nvSpPr>
        <p:spPr>
          <a:xfrm>
            <a:off x="7397495" y="2286000"/>
            <a:ext cx="74980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太重</a:t>
            </a:r>
          </a:p>
        </p:txBody>
      </p:sp>
      <p:sp>
        <p:nvSpPr>
          <p:cNvPr id="281" name="Text 20"/>
          <p:cNvSpPr txBox="1"/>
          <p:nvPr/>
        </p:nvSpPr>
        <p:spPr>
          <a:xfrm>
            <a:off x="6473952" y="2761488"/>
            <a:ext cx="74980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“它”</a:t>
            </a:r>
          </a:p>
        </p:txBody>
      </p:sp>
      <p:sp>
        <p:nvSpPr>
          <p:cNvPr id="282" name="Text 21"/>
          <p:cNvSpPr txBox="1"/>
          <p:nvPr/>
        </p:nvSpPr>
        <p:spPr>
          <a:xfrm>
            <a:off x="4800600" y="3154679"/>
            <a:ext cx="6858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书</a:t>
            </a:r>
          </a:p>
        </p:txBody>
      </p:sp>
      <p:sp>
        <p:nvSpPr>
          <p:cNvPr id="283" name="Shape 22"/>
          <p:cNvSpPr/>
          <p:nvPr/>
        </p:nvSpPr>
        <p:spPr>
          <a:xfrm>
            <a:off x="5669279" y="3209544"/>
            <a:ext cx="1632205" cy="146305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23"/>
          <p:cNvSpPr txBox="1"/>
          <p:nvPr/>
        </p:nvSpPr>
        <p:spPr>
          <a:xfrm>
            <a:off x="8183880" y="3154679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0.70</a:t>
            </a:r>
          </a:p>
        </p:txBody>
      </p:sp>
      <p:sp>
        <p:nvSpPr>
          <p:cNvPr id="285" name="Text 24"/>
          <p:cNvSpPr txBox="1"/>
          <p:nvPr/>
        </p:nvSpPr>
        <p:spPr>
          <a:xfrm>
            <a:off x="4800600" y="3538728"/>
            <a:ext cx="6858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抽屉</a:t>
            </a:r>
          </a:p>
        </p:txBody>
      </p:sp>
      <p:sp>
        <p:nvSpPr>
          <p:cNvPr id="286" name="Shape 25"/>
          <p:cNvSpPr/>
          <p:nvPr/>
        </p:nvSpPr>
        <p:spPr>
          <a:xfrm>
            <a:off x="5669279" y="3593591"/>
            <a:ext cx="279807" cy="14630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26"/>
          <p:cNvSpPr txBox="1"/>
          <p:nvPr/>
        </p:nvSpPr>
        <p:spPr>
          <a:xfrm>
            <a:off x="8183880" y="3538728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0.12</a:t>
            </a:r>
          </a:p>
        </p:txBody>
      </p:sp>
      <p:sp>
        <p:nvSpPr>
          <p:cNvPr id="288" name="Text 27"/>
          <p:cNvSpPr txBox="1"/>
          <p:nvPr/>
        </p:nvSpPr>
        <p:spPr>
          <a:xfrm>
            <a:off x="4800600" y="3922776"/>
            <a:ext cx="6858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太重</a:t>
            </a:r>
          </a:p>
        </p:txBody>
      </p:sp>
      <p:sp>
        <p:nvSpPr>
          <p:cNvPr id="289" name="Shape 28"/>
          <p:cNvSpPr/>
          <p:nvPr/>
        </p:nvSpPr>
        <p:spPr>
          <a:xfrm>
            <a:off x="5669279" y="3977640"/>
            <a:ext cx="233173" cy="146305"/>
          </a:xfrm>
          <a:prstGeom prst="roundRect">
            <a:avLst>
              <a:gd name="adj" fmla="val 50000"/>
            </a:avLst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29"/>
          <p:cNvSpPr txBox="1"/>
          <p:nvPr/>
        </p:nvSpPr>
        <p:spPr>
          <a:xfrm>
            <a:off x="8183880" y="3922776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0.10</a:t>
            </a:r>
          </a:p>
        </p:txBody>
      </p:sp>
      <p:sp>
        <p:nvSpPr>
          <p:cNvPr id="291" name="Text 30"/>
          <p:cNvSpPr txBox="1"/>
          <p:nvPr/>
        </p:nvSpPr>
        <p:spPr>
          <a:xfrm>
            <a:off x="4800600" y="4306823"/>
            <a:ext cx="6858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其他</a:t>
            </a:r>
          </a:p>
        </p:txBody>
      </p:sp>
      <p:sp>
        <p:nvSpPr>
          <p:cNvPr id="292" name="Shape 31"/>
          <p:cNvSpPr/>
          <p:nvPr/>
        </p:nvSpPr>
        <p:spPr>
          <a:xfrm>
            <a:off x="5669279" y="4361688"/>
            <a:ext cx="186539" cy="146305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32"/>
          <p:cNvSpPr txBox="1"/>
          <p:nvPr/>
        </p:nvSpPr>
        <p:spPr>
          <a:xfrm>
            <a:off x="8183880" y="4306823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0.08</a:t>
            </a:r>
          </a:p>
        </p:txBody>
      </p:sp>
      <p:sp>
        <p:nvSpPr>
          <p:cNvPr id="294" name="Shape 33"/>
          <p:cNvSpPr/>
          <p:nvPr/>
        </p:nvSpPr>
        <p:spPr>
          <a:xfrm>
            <a:off x="8869680" y="2871216"/>
            <a:ext cx="2514601" cy="1600201"/>
          </a:xfrm>
          <a:prstGeom prst="roundRect">
            <a:avLst>
              <a:gd name="adj" fmla="val 5714"/>
            </a:avLst>
          </a:prstGeom>
          <a:solidFill>
            <a:srgbClr val="1A2454"/>
          </a:solidFill>
          <a:ln w="1524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34"/>
          <p:cNvSpPr txBox="1"/>
          <p:nvPr/>
        </p:nvSpPr>
        <p:spPr>
          <a:xfrm>
            <a:off x="9098280" y="3127248"/>
            <a:ext cx="20116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Q · 我在找什么</a:t>
            </a:r>
          </a:p>
        </p:txBody>
      </p:sp>
      <p:sp>
        <p:nvSpPr>
          <p:cNvPr id="296" name="Text 35"/>
          <p:cNvSpPr txBox="1"/>
          <p:nvPr/>
        </p:nvSpPr>
        <p:spPr>
          <a:xfrm>
            <a:off x="9098280" y="3493008"/>
            <a:ext cx="20116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34D39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K · 谁最匹配</a:t>
            </a:r>
          </a:p>
        </p:txBody>
      </p:sp>
      <p:sp>
        <p:nvSpPr>
          <p:cNvPr id="297" name="Text 36"/>
          <p:cNvSpPr txBox="1"/>
          <p:nvPr/>
        </p:nvSpPr>
        <p:spPr>
          <a:xfrm>
            <a:off x="9098280" y="3858767"/>
            <a:ext cx="20116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V · 带来什么信息</a:t>
            </a:r>
          </a:p>
        </p:txBody>
      </p:sp>
      <p:sp>
        <p:nvSpPr>
          <p:cNvPr id="298" name="Text 37"/>
          <p:cNvSpPr txBox="1"/>
          <p:nvPr/>
        </p:nvSpPr>
        <p:spPr>
          <a:xfrm>
            <a:off x="1005839" y="5241671"/>
            <a:ext cx="10058401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Q 与 K 打分 → softmax 变成比例 → 按比例汇总 V；数字仅为教学示意。</a:t>
            </a:r>
          </a:p>
        </p:txBody>
      </p:sp>
      <p:sp>
        <p:nvSpPr>
          <p:cNvPr id="299" name="Text 38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06 · 架构</a:t>
            </a:r>
          </a:p>
        </p:txBody>
      </p:sp>
      <p:sp>
        <p:nvSpPr>
          <p:cNvPr id="304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Transformer 的一层：先交换信息，再加工表示</a:t>
            </a:r>
          </a:p>
        </p:txBody>
      </p:sp>
      <p:sp>
        <p:nvSpPr>
          <p:cNvPr id="305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3"/>
          <p:cNvSpPr/>
          <p:nvPr/>
        </p:nvSpPr>
        <p:spPr>
          <a:xfrm>
            <a:off x="640080" y="2057400"/>
            <a:ext cx="19019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EE7F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Shape 4"/>
          <p:cNvSpPr/>
          <p:nvPr/>
        </p:nvSpPr>
        <p:spPr>
          <a:xfrm>
            <a:off x="1408175" y="2331720"/>
            <a:ext cx="347473" cy="347473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5"/>
          <p:cNvSpPr txBox="1"/>
          <p:nvPr/>
        </p:nvSpPr>
        <p:spPr>
          <a:xfrm>
            <a:off x="1408175" y="2404872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9" name="Text 6"/>
          <p:cNvSpPr txBox="1"/>
          <p:nvPr/>
        </p:nvSpPr>
        <p:spPr>
          <a:xfrm>
            <a:off x="786383" y="2889504"/>
            <a:ext cx="1609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token + 位置</a:t>
            </a:r>
          </a:p>
        </p:txBody>
      </p:sp>
      <p:sp>
        <p:nvSpPr>
          <p:cNvPr id="310" name="Text 7"/>
          <p:cNvSpPr txBox="1"/>
          <p:nvPr/>
        </p:nvSpPr>
        <p:spPr>
          <a:xfrm>
            <a:off x="777239" y="3355847"/>
            <a:ext cx="1627634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顺序信息</a:t>
            </a:r>
          </a:p>
        </p:txBody>
      </p:sp>
      <p:sp>
        <p:nvSpPr>
          <p:cNvPr id="311" name="Shape 8"/>
          <p:cNvSpPr/>
          <p:nvPr/>
        </p:nvSpPr>
        <p:spPr>
          <a:xfrm>
            <a:off x="2587751" y="2788920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9"/>
          <p:cNvSpPr/>
          <p:nvPr/>
        </p:nvSpPr>
        <p:spPr>
          <a:xfrm>
            <a:off x="2926079" y="2057400"/>
            <a:ext cx="19019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" name="Shape 10"/>
          <p:cNvSpPr/>
          <p:nvPr/>
        </p:nvSpPr>
        <p:spPr>
          <a:xfrm>
            <a:off x="3694176" y="2331720"/>
            <a:ext cx="347473" cy="347473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11"/>
          <p:cNvSpPr txBox="1"/>
          <p:nvPr/>
        </p:nvSpPr>
        <p:spPr>
          <a:xfrm>
            <a:off x="3694176" y="2404872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5" name="Text 12"/>
          <p:cNvSpPr txBox="1"/>
          <p:nvPr/>
        </p:nvSpPr>
        <p:spPr>
          <a:xfrm>
            <a:off x="3072383" y="2889504"/>
            <a:ext cx="1609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多头注意力</a:t>
            </a:r>
          </a:p>
        </p:txBody>
      </p:sp>
      <p:sp>
        <p:nvSpPr>
          <p:cNvPr id="316" name="Text 13"/>
          <p:cNvSpPr txBox="1"/>
          <p:nvPr/>
        </p:nvSpPr>
        <p:spPr>
          <a:xfrm>
            <a:off x="3063239" y="3355847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跨位置交换信息</a:t>
            </a:r>
          </a:p>
        </p:txBody>
      </p:sp>
      <p:sp>
        <p:nvSpPr>
          <p:cNvPr id="317" name="Shape 14"/>
          <p:cNvSpPr/>
          <p:nvPr/>
        </p:nvSpPr>
        <p:spPr>
          <a:xfrm>
            <a:off x="4873752" y="2788920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15"/>
          <p:cNvSpPr/>
          <p:nvPr/>
        </p:nvSpPr>
        <p:spPr>
          <a:xfrm>
            <a:off x="5212079" y="2057400"/>
            <a:ext cx="19019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Shape 16"/>
          <p:cNvSpPr/>
          <p:nvPr/>
        </p:nvSpPr>
        <p:spPr>
          <a:xfrm>
            <a:off x="5980176" y="2331720"/>
            <a:ext cx="347473" cy="347473"/>
          </a:xfrm>
          <a:prstGeom prst="ellipse">
            <a:avLst/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7"/>
          <p:cNvSpPr txBox="1"/>
          <p:nvPr/>
        </p:nvSpPr>
        <p:spPr>
          <a:xfrm>
            <a:off x="5980176" y="2404872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1" name="Text 18"/>
          <p:cNvSpPr txBox="1"/>
          <p:nvPr/>
        </p:nvSpPr>
        <p:spPr>
          <a:xfrm>
            <a:off x="5358384" y="2889504"/>
            <a:ext cx="1609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残差 + 归一化</a:t>
            </a:r>
          </a:p>
        </p:txBody>
      </p:sp>
      <p:sp>
        <p:nvSpPr>
          <p:cNvPr id="322" name="Text 19"/>
          <p:cNvSpPr txBox="1"/>
          <p:nvPr/>
        </p:nvSpPr>
        <p:spPr>
          <a:xfrm>
            <a:off x="5349240" y="3355847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保留并稳定信号</a:t>
            </a:r>
          </a:p>
        </p:txBody>
      </p:sp>
      <p:sp>
        <p:nvSpPr>
          <p:cNvPr id="323" name="Shape 20"/>
          <p:cNvSpPr/>
          <p:nvPr/>
        </p:nvSpPr>
        <p:spPr>
          <a:xfrm>
            <a:off x="7159752" y="2788920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Shape 21"/>
          <p:cNvSpPr/>
          <p:nvPr/>
        </p:nvSpPr>
        <p:spPr>
          <a:xfrm>
            <a:off x="7498080" y="2057400"/>
            <a:ext cx="19019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" name="Shape 22"/>
          <p:cNvSpPr/>
          <p:nvPr/>
        </p:nvSpPr>
        <p:spPr>
          <a:xfrm>
            <a:off x="8266176" y="2331720"/>
            <a:ext cx="347473" cy="347473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23"/>
          <p:cNvSpPr txBox="1"/>
          <p:nvPr/>
        </p:nvSpPr>
        <p:spPr>
          <a:xfrm>
            <a:off x="8266176" y="2404872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7" name="Text 24"/>
          <p:cNvSpPr txBox="1"/>
          <p:nvPr/>
        </p:nvSpPr>
        <p:spPr>
          <a:xfrm>
            <a:off x="7644383" y="2889504"/>
            <a:ext cx="1609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前馈网络</a:t>
            </a:r>
          </a:p>
        </p:txBody>
      </p:sp>
      <p:sp>
        <p:nvSpPr>
          <p:cNvPr id="328" name="Text 25"/>
          <p:cNvSpPr txBox="1"/>
          <p:nvPr/>
        </p:nvSpPr>
        <p:spPr>
          <a:xfrm>
            <a:off x="7635240" y="3355847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逐位置非线性加工</a:t>
            </a:r>
          </a:p>
        </p:txBody>
      </p:sp>
      <p:sp>
        <p:nvSpPr>
          <p:cNvPr id="329" name="Shape 26"/>
          <p:cNvSpPr/>
          <p:nvPr/>
        </p:nvSpPr>
        <p:spPr>
          <a:xfrm>
            <a:off x="9445752" y="2788920"/>
            <a:ext cx="274321" cy="201169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Shape 27"/>
          <p:cNvSpPr/>
          <p:nvPr/>
        </p:nvSpPr>
        <p:spPr>
          <a:xfrm>
            <a:off x="9784080" y="2057400"/>
            <a:ext cx="1901953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C857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Shape 28"/>
          <p:cNvSpPr/>
          <p:nvPr/>
        </p:nvSpPr>
        <p:spPr>
          <a:xfrm>
            <a:off x="10552176" y="2331720"/>
            <a:ext cx="347473" cy="347473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29"/>
          <p:cNvSpPr txBox="1"/>
          <p:nvPr/>
        </p:nvSpPr>
        <p:spPr>
          <a:xfrm>
            <a:off x="10552176" y="2404872"/>
            <a:ext cx="34747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3" name="Text 30"/>
          <p:cNvSpPr txBox="1"/>
          <p:nvPr/>
        </p:nvSpPr>
        <p:spPr>
          <a:xfrm>
            <a:off x="9930383" y="2889504"/>
            <a:ext cx="160934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重复多层</a:t>
            </a:r>
          </a:p>
        </p:txBody>
      </p:sp>
      <p:sp>
        <p:nvSpPr>
          <p:cNvPr id="334" name="Text 31"/>
          <p:cNvSpPr txBox="1"/>
          <p:nvPr/>
        </p:nvSpPr>
        <p:spPr>
          <a:xfrm>
            <a:off x="9921240" y="3355847"/>
            <a:ext cx="1627633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100">
                <a:solidFill>
                  <a:srgbClr val="637381"/>
                </a:solidFill>
              </a:defRPr>
            </a:lvl1pPr>
          </a:lstStyle>
          <a:p>
            <a:pPr/>
            <a:r>
              <a:t>形成上下文表示</a:t>
            </a:r>
          </a:p>
        </p:txBody>
      </p:sp>
      <p:sp>
        <p:nvSpPr>
          <p:cNvPr id="335" name="Shape 32"/>
          <p:cNvSpPr/>
          <p:nvPr/>
        </p:nvSpPr>
        <p:spPr>
          <a:xfrm>
            <a:off x="2057400" y="4709159"/>
            <a:ext cx="8092441" cy="713233"/>
          </a:xfrm>
          <a:prstGeom prst="roundRect">
            <a:avLst>
              <a:gd name="adj" fmla="val 12821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33"/>
          <p:cNvSpPr txBox="1"/>
          <p:nvPr/>
        </p:nvSpPr>
        <p:spPr>
          <a:xfrm>
            <a:off x="2331720" y="4946903"/>
            <a:ext cx="75438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注意力负责“位置之间互相看”，FFN 负责“每个位置自己加工”。</a:t>
            </a:r>
          </a:p>
        </p:txBody>
      </p:sp>
      <p:sp>
        <p:nvSpPr>
          <p:cNvPr id="337" name="Text 34"/>
          <p:cNvSpPr txBox="1"/>
          <p:nvPr/>
        </p:nvSpPr>
        <p:spPr>
          <a:xfrm>
            <a:off x="1005839" y="5806440"/>
            <a:ext cx="10058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训练时可以并行处理已知序列；生成时仍要一个 token 接一个 token。</a:t>
            </a:r>
          </a:p>
        </p:txBody>
      </p:sp>
      <p:sp>
        <p:nvSpPr>
          <p:cNvPr id="338" name="Text 35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07 · GPT</a:t>
            </a:r>
          </a:p>
        </p:txBody>
      </p:sp>
      <p:sp>
        <p:nvSpPr>
          <p:cNvPr id="343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GPT 相对 Transformer：进步主要在“选择 + 训练 + 规模化”</a:t>
            </a:r>
          </a:p>
        </p:txBody>
      </p:sp>
      <p:sp>
        <p:nvSpPr>
          <p:cNvPr id="344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3"/>
          <p:cNvSpPr/>
          <p:nvPr/>
        </p:nvSpPr>
        <p:spPr>
          <a:xfrm>
            <a:off x="731519" y="1600200"/>
            <a:ext cx="5029201" cy="4160521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" name="Shape 4"/>
          <p:cNvSpPr/>
          <p:nvPr/>
        </p:nvSpPr>
        <p:spPr>
          <a:xfrm>
            <a:off x="1005839" y="1901951"/>
            <a:ext cx="1828801" cy="283465"/>
          </a:xfrm>
          <a:prstGeom prst="roundRect">
            <a:avLst>
              <a:gd name="adj" fmla="val 48387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5"/>
          <p:cNvSpPr txBox="1"/>
          <p:nvPr/>
        </p:nvSpPr>
        <p:spPr>
          <a:xfrm>
            <a:off x="1005839" y="1947672"/>
            <a:ext cx="18288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Transformer：架构家族</a:t>
            </a:r>
          </a:p>
        </p:txBody>
      </p:sp>
      <p:sp>
        <p:nvSpPr>
          <p:cNvPr id="348" name="Text 6"/>
          <p:cNvSpPr txBox="1"/>
          <p:nvPr/>
        </p:nvSpPr>
        <p:spPr>
          <a:xfrm>
            <a:off x="1024127" y="2606039"/>
            <a:ext cx="6400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结构</a:t>
            </a:r>
          </a:p>
        </p:txBody>
      </p:sp>
      <p:sp>
        <p:nvSpPr>
          <p:cNvPr id="349" name="Text 7"/>
          <p:cNvSpPr txBox="1"/>
          <p:nvPr/>
        </p:nvSpPr>
        <p:spPr>
          <a:xfrm>
            <a:off x="1828799" y="2606039"/>
            <a:ext cx="35204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637381"/>
                </a:solidFill>
              </a:defRPr>
            </a:lvl1pPr>
          </a:lstStyle>
          <a:p>
            <a:pPr/>
            <a:r>
              <a:t>可以是编码器、解码器，或两者组合</a:t>
            </a:r>
          </a:p>
        </p:txBody>
      </p:sp>
      <p:sp>
        <p:nvSpPr>
          <p:cNvPr id="350" name="Text 8"/>
          <p:cNvSpPr txBox="1"/>
          <p:nvPr/>
        </p:nvSpPr>
        <p:spPr>
          <a:xfrm>
            <a:off x="1024127" y="3264408"/>
            <a:ext cx="6400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注意力</a:t>
            </a:r>
          </a:p>
        </p:txBody>
      </p:sp>
      <p:sp>
        <p:nvSpPr>
          <p:cNvPr id="351" name="Text 9"/>
          <p:cNvSpPr txBox="1"/>
          <p:nvPr/>
        </p:nvSpPr>
        <p:spPr>
          <a:xfrm>
            <a:off x="1828799" y="3264408"/>
            <a:ext cx="35204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637381"/>
                </a:solidFill>
              </a:defRPr>
            </a:lvl1pPr>
          </a:lstStyle>
          <a:p>
            <a:pPr/>
            <a:r>
              <a:t>让位置之间交换上下文信息</a:t>
            </a:r>
          </a:p>
        </p:txBody>
      </p:sp>
      <p:sp>
        <p:nvSpPr>
          <p:cNvPr id="352" name="Text 10"/>
          <p:cNvSpPr txBox="1"/>
          <p:nvPr/>
        </p:nvSpPr>
        <p:spPr>
          <a:xfrm>
            <a:off x="1024127" y="3922776"/>
            <a:ext cx="6400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77823">
              <a:defRPr sz="1248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原始论文</a:t>
            </a:r>
          </a:p>
        </p:txBody>
      </p:sp>
      <p:sp>
        <p:nvSpPr>
          <p:cNvPr id="353" name="Text 11"/>
          <p:cNvSpPr txBox="1"/>
          <p:nvPr/>
        </p:nvSpPr>
        <p:spPr>
          <a:xfrm>
            <a:off x="1828799" y="3922776"/>
            <a:ext cx="352044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637381"/>
                </a:solidFill>
              </a:defRPr>
            </a:lvl1pPr>
          </a:lstStyle>
          <a:p>
            <a:pPr/>
            <a:r>
              <a:t>主要验证序列转换与机器翻译</a:t>
            </a:r>
          </a:p>
        </p:txBody>
      </p:sp>
      <p:sp>
        <p:nvSpPr>
          <p:cNvPr id="354" name="Shape 12"/>
          <p:cNvSpPr/>
          <p:nvPr/>
        </p:nvSpPr>
        <p:spPr>
          <a:xfrm>
            <a:off x="6355079" y="1600200"/>
            <a:ext cx="5074921" cy="4160521"/>
          </a:xfrm>
          <a:prstGeom prst="roundRect">
            <a:avLst>
              <a:gd name="adj" fmla="val 2198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5" name="Shape 13"/>
          <p:cNvSpPr/>
          <p:nvPr/>
        </p:nvSpPr>
        <p:spPr>
          <a:xfrm>
            <a:off x="6629400" y="1901951"/>
            <a:ext cx="1783080" cy="283465"/>
          </a:xfrm>
          <a:prstGeom prst="roundRect">
            <a:avLst>
              <a:gd name="adj" fmla="val 4838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14"/>
          <p:cNvSpPr txBox="1"/>
          <p:nvPr/>
        </p:nvSpPr>
        <p:spPr>
          <a:xfrm>
            <a:off x="6629400" y="1947672"/>
            <a:ext cx="17830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GPT：一套生成式配方</a:t>
            </a:r>
          </a:p>
        </p:txBody>
      </p:sp>
      <p:sp>
        <p:nvSpPr>
          <p:cNvPr id="357" name="Shape 15"/>
          <p:cNvSpPr/>
          <p:nvPr/>
        </p:nvSpPr>
        <p:spPr>
          <a:xfrm>
            <a:off x="6656831" y="2596895"/>
            <a:ext cx="164593" cy="164593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16"/>
          <p:cNvSpPr txBox="1"/>
          <p:nvPr/>
        </p:nvSpPr>
        <p:spPr>
          <a:xfrm>
            <a:off x="6995159" y="2542032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结构选择</a:t>
            </a:r>
          </a:p>
        </p:txBody>
      </p:sp>
      <p:sp>
        <p:nvSpPr>
          <p:cNvPr id="359" name="Text 17"/>
          <p:cNvSpPr txBox="1"/>
          <p:nvPr/>
        </p:nvSpPr>
        <p:spPr>
          <a:xfrm>
            <a:off x="8183880" y="2542032"/>
            <a:ext cx="26974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13816">
              <a:defRPr sz="1068">
                <a:solidFill>
                  <a:srgbClr val="A9B5C6"/>
                </a:solidFill>
              </a:defRPr>
            </a:lvl1pPr>
          </a:lstStyle>
          <a:p>
            <a:pPr/>
            <a:r>
              <a:t>选择 decoder-only；因果遮罩继承自 Transformer</a:t>
            </a:r>
          </a:p>
        </p:txBody>
      </p:sp>
      <p:sp>
        <p:nvSpPr>
          <p:cNvPr id="360" name="Shape 18"/>
          <p:cNvSpPr/>
          <p:nvPr/>
        </p:nvSpPr>
        <p:spPr>
          <a:xfrm>
            <a:off x="6656831" y="3191255"/>
            <a:ext cx="164593" cy="164593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19"/>
          <p:cNvSpPr txBox="1"/>
          <p:nvPr/>
        </p:nvSpPr>
        <p:spPr>
          <a:xfrm>
            <a:off x="6995159" y="3136392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预训练</a:t>
            </a:r>
          </a:p>
        </p:txBody>
      </p:sp>
      <p:sp>
        <p:nvSpPr>
          <p:cNvPr id="362" name="Text 20"/>
          <p:cNvSpPr txBox="1"/>
          <p:nvPr/>
        </p:nvSpPr>
        <p:spPr>
          <a:xfrm>
            <a:off x="8183880" y="3136392"/>
            <a:ext cx="26974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41247">
              <a:defRPr sz="1104">
                <a:solidFill>
                  <a:srgbClr val="A9B5C6"/>
                </a:solidFill>
              </a:defRPr>
            </a:lvl1pPr>
          </a:lstStyle>
          <a:p>
            <a:pPr/>
            <a:r>
              <a:t>GPT-1：无标签文本预训练，再做任务微调</a:t>
            </a:r>
          </a:p>
        </p:txBody>
      </p:sp>
      <p:sp>
        <p:nvSpPr>
          <p:cNvPr id="363" name="Shape 21"/>
          <p:cNvSpPr/>
          <p:nvPr/>
        </p:nvSpPr>
        <p:spPr>
          <a:xfrm>
            <a:off x="6656831" y="3785615"/>
            <a:ext cx="164593" cy="164593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22"/>
          <p:cNvSpPr txBox="1"/>
          <p:nvPr/>
        </p:nvSpPr>
        <p:spPr>
          <a:xfrm>
            <a:off x="6995159" y="3730752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规模扩展</a:t>
            </a:r>
          </a:p>
        </p:txBody>
      </p:sp>
      <p:sp>
        <p:nvSpPr>
          <p:cNvPr id="365" name="Text 23"/>
          <p:cNvSpPr txBox="1"/>
          <p:nvPr/>
        </p:nvSpPr>
        <p:spPr>
          <a:xfrm>
            <a:off x="8183880" y="3730752"/>
            <a:ext cx="26974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13816">
              <a:defRPr sz="1068">
                <a:solidFill>
                  <a:srgbClr val="A9B5C6"/>
                </a:solidFill>
              </a:defRPr>
            </a:lvl1pPr>
          </a:lstStyle>
          <a:p>
            <a:pPr/>
            <a:r>
              <a:t>GPT-2/3：放大数据与模型，支持零 / 少样本</a:t>
            </a:r>
          </a:p>
        </p:txBody>
      </p:sp>
      <p:sp>
        <p:nvSpPr>
          <p:cNvPr id="366" name="Shape 24"/>
          <p:cNvSpPr/>
          <p:nvPr/>
        </p:nvSpPr>
        <p:spPr>
          <a:xfrm>
            <a:off x="6656831" y="4379976"/>
            <a:ext cx="164593" cy="164593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Text 25"/>
          <p:cNvSpPr txBox="1"/>
          <p:nvPr/>
        </p:nvSpPr>
        <p:spPr>
          <a:xfrm>
            <a:off x="6995159" y="4325111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后训练 / 系统</a:t>
            </a:r>
          </a:p>
        </p:txBody>
      </p:sp>
      <p:sp>
        <p:nvSpPr>
          <p:cNvPr id="368" name="Text 26"/>
          <p:cNvSpPr txBox="1"/>
          <p:nvPr/>
        </p:nvSpPr>
        <p:spPr>
          <a:xfrm>
            <a:off x="8183880" y="4325111"/>
            <a:ext cx="26974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22959">
              <a:defRPr sz="1079">
                <a:solidFill>
                  <a:srgbClr val="A9B5C6"/>
                </a:solidFill>
              </a:defRPr>
            </a:lvl1pPr>
          </a:lstStyle>
          <a:p>
            <a:pPr/>
            <a:r>
              <a:t>指令偏好训练 + 工具 / 状态，塑造助手体验</a:t>
            </a:r>
          </a:p>
        </p:txBody>
      </p:sp>
      <p:sp>
        <p:nvSpPr>
          <p:cNvPr id="369" name="Text 27"/>
          <p:cNvSpPr txBox="1"/>
          <p:nvPr/>
        </p:nvSpPr>
        <p:spPr>
          <a:xfrm>
            <a:off x="914400" y="5897879"/>
            <a:ext cx="1028700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因果遮罩和自回归生成已在原始 Transformer 解码器中存在；GPT 的主线增量是预训练、迁移、规模化，以及后续助手对齐。</a:t>
            </a:r>
          </a:p>
        </p:txBody>
      </p:sp>
      <p:sp>
        <p:nvSpPr>
          <p:cNvPr id="370" name="Text 28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08 · 自回归生成</a:t>
            </a:r>
          </a:p>
        </p:txBody>
      </p:sp>
      <p:sp>
        <p:nvSpPr>
          <p:cNvPr id="375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GPT 怎样生成一段话：每一步都只决定下一个 token</a:t>
            </a:r>
          </a:p>
        </p:txBody>
      </p:sp>
      <p:sp>
        <p:nvSpPr>
          <p:cNvPr id="376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Text 3"/>
          <p:cNvSpPr txBox="1"/>
          <p:nvPr/>
        </p:nvSpPr>
        <p:spPr>
          <a:xfrm>
            <a:off x="777240" y="1508760"/>
            <a:ext cx="33832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7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提示词：客户投诉鞋底开胶，</a:t>
            </a:r>
          </a:p>
        </p:txBody>
      </p:sp>
      <p:sp>
        <p:nvSpPr>
          <p:cNvPr id="378" name="Shape 4"/>
          <p:cNvSpPr/>
          <p:nvPr/>
        </p:nvSpPr>
        <p:spPr>
          <a:xfrm>
            <a:off x="868680" y="2057400"/>
            <a:ext cx="960120" cy="548641"/>
          </a:xfrm>
          <a:prstGeom prst="roundRect">
            <a:avLst>
              <a:gd name="adj" fmla="val 1666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5"/>
          <p:cNvSpPr txBox="1"/>
          <p:nvPr/>
        </p:nvSpPr>
        <p:spPr>
          <a:xfrm>
            <a:off x="868680" y="2240279"/>
            <a:ext cx="960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建议</a:t>
            </a:r>
          </a:p>
        </p:txBody>
      </p:sp>
      <p:sp>
        <p:nvSpPr>
          <p:cNvPr id="380" name="Shape 6"/>
          <p:cNvSpPr/>
          <p:nvPr/>
        </p:nvSpPr>
        <p:spPr>
          <a:xfrm>
            <a:off x="1874520" y="2240279"/>
            <a:ext cx="246889" cy="182881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Shape 7"/>
          <p:cNvSpPr/>
          <p:nvPr/>
        </p:nvSpPr>
        <p:spPr>
          <a:xfrm>
            <a:off x="2075688" y="2057400"/>
            <a:ext cx="960121" cy="548641"/>
          </a:xfrm>
          <a:prstGeom prst="roundRect">
            <a:avLst>
              <a:gd name="adj" fmla="val 16667"/>
            </a:avLst>
          </a:prstGeom>
          <a:solidFill>
            <a:srgbClr val="EEF5F5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8"/>
          <p:cNvSpPr txBox="1"/>
          <p:nvPr/>
        </p:nvSpPr>
        <p:spPr>
          <a:xfrm>
            <a:off x="2075688" y="2240279"/>
            <a:ext cx="960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先</a:t>
            </a:r>
          </a:p>
        </p:txBody>
      </p:sp>
      <p:sp>
        <p:nvSpPr>
          <p:cNvPr id="383" name="Shape 9"/>
          <p:cNvSpPr/>
          <p:nvPr/>
        </p:nvSpPr>
        <p:spPr>
          <a:xfrm>
            <a:off x="3081527" y="2240279"/>
            <a:ext cx="246889" cy="182881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Shape 10"/>
          <p:cNvSpPr/>
          <p:nvPr/>
        </p:nvSpPr>
        <p:spPr>
          <a:xfrm>
            <a:off x="3282696" y="2057400"/>
            <a:ext cx="960121" cy="548641"/>
          </a:xfrm>
          <a:prstGeom prst="roundRect">
            <a:avLst>
              <a:gd name="adj" fmla="val 16667"/>
            </a:avLst>
          </a:prstGeom>
          <a:solidFill>
            <a:srgbClr val="EEF5F5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Text 11"/>
          <p:cNvSpPr txBox="1"/>
          <p:nvPr/>
        </p:nvSpPr>
        <p:spPr>
          <a:xfrm>
            <a:off x="3282696" y="2240279"/>
            <a:ext cx="960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拍照</a:t>
            </a:r>
          </a:p>
        </p:txBody>
      </p:sp>
      <p:sp>
        <p:nvSpPr>
          <p:cNvPr id="386" name="Shape 12"/>
          <p:cNvSpPr/>
          <p:nvPr/>
        </p:nvSpPr>
        <p:spPr>
          <a:xfrm>
            <a:off x="4288535" y="2240279"/>
            <a:ext cx="246889" cy="182881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Shape 13"/>
          <p:cNvSpPr/>
          <p:nvPr/>
        </p:nvSpPr>
        <p:spPr>
          <a:xfrm>
            <a:off x="4489703" y="2057400"/>
            <a:ext cx="960121" cy="548641"/>
          </a:xfrm>
          <a:prstGeom prst="roundRect">
            <a:avLst>
              <a:gd name="adj" fmla="val 16667"/>
            </a:avLst>
          </a:prstGeom>
          <a:solidFill>
            <a:srgbClr val="EEF5F5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14"/>
          <p:cNvSpPr txBox="1"/>
          <p:nvPr/>
        </p:nvSpPr>
        <p:spPr>
          <a:xfrm>
            <a:off x="4489703" y="2240279"/>
            <a:ext cx="960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并</a:t>
            </a:r>
          </a:p>
        </p:txBody>
      </p:sp>
      <p:sp>
        <p:nvSpPr>
          <p:cNvPr id="389" name="Shape 15"/>
          <p:cNvSpPr/>
          <p:nvPr/>
        </p:nvSpPr>
        <p:spPr>
          <a:xfrm>
            <a:off x="5495544" y="2240279"/>
            <a:ext cx="246889" cy="182881"/>
          </a:xfrm>
          <a:prstGeom prst="chevron">
            <a:avLst>
              <a:gd name="adj" fmla="val 50000"/>
            </a:avLst>
          </a:prstGeom>
          <a:solidFill>
            <a:srgbClr val="D6E2E6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Shape 16"/>
          <p:cNvSpPr/>
          <p:nvPr/>
        </p:nvSpPr>
        <p:spPr>
          <a:xfrm>
            <a:off x="5696711" y="2057400"/>
            <a:ext cx="960121" cy="548641"/>
          </a:xfrm>
          <a:prstGeom prst="roundRect">
            <a:avLst>
              <a:gd name="adj" fmla="val 16667"/>
            </a:avLst>
          </a:prstGeom>
          <a:solidFill>
            <a:srgbClr val="EEF5F5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17"/>
          <p:cNvSpPr txBox="1"/>
          <p:nvPr/>
        </p:nvSpPr>
        <p:spPr>
          <a:xfrm>
            <a:off x="5696711" y="2240279"/>
            <a:ext cx="9601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保留</a:t>
            </a:r>
          </a:p>
        </p:txBody>
      </p:sp>
      <p:sp>
        <p:nvSpPr>
          <p:cNvPr id="392" name="Text 18"/>
          <p:cNvSpPr txBox="1"/>
          <p:nvPr/>
        </p:nvSpPr>
        <p:spPr>
          <a:xfrm>
            <a:off x="868680" y="2880360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当前前缀</a:t>
            </a:r>
          </a:p>
        </p:txBody>
      </p:sp>
      <p:sp>
        <p:nvSpPr>
          <p:cNvPr id="393" name="Text 19"/>
          <p:cNvSpPr txBox="1"/>
          <p:nvPr/>
        </p:nvSpPr>
        <p:spPr>
          <a:xfrm>
            <a:off x="1325880" y="3273552"/>
            <a:ext cx="56692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建议</a:t>
            </a:r>
          </a:p>
        </p:txBody>
      </p:sp>
      <p:sp>
        <p:nvSpPr>
          <p:cNvPr id="394" name="Shape 20"/>
          <p:cNvSpPr/>
          <p:nvPr/>
        </p:nvSpPr>
        <p:spPr>
          <a:xfrm>
            <a:off x="2057400" y="3328415"/>
            <a:ext cx="2926080" cy="155449"/>
          </a:xfrm>
          <a:prstGeom prst="roundRect">
            <a:avLst>
              <a:gd name="adj" fmla="val 47059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21"/>
          <p:cNvSpPr txBox="1"/>
          <p:nvPr/>
        </p:nvSpPr>
        <p:spPr>
          <a:xfrm>
            <a:off x="5212079" y="3273552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42%</a:t>
            </a:r>
          </a:p>
        </p:txBody>
      </p:sp>
      <p:sp>
        <p:nvSpPr>
          <p:cNvPr id="396" name="Text 22"/>
          <p:cNvSpPr txBox="1"/>
          <p:nvPr/>
        </p:nvSpPr>
        <p:spPr>
          <a:xfrm>
            <a:off x="1325880" y="3657600"/>
            <a:ext cx="56692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联系</a:t>
            </a:r>
          </a:p>
        </p:txBody>
      </p:sp>
      <p:sp>
        <p:nvSpPr>
          <p:cNvPr id="397" name="Shape 23"/>
          <p:cNvSpPr/>
          <p:nvPr/>
        </p:nvSpPr>
        <p:spPr>
          <a:xfrm>
            <a:off x="2057400" y="3712464"/>
            <a:ext cx="1950721" cy="155449"/>
          </a:xfrm>
          <a:prstGeom prst="roundRect">
            <a:avLst>
              <a:gd name="adj" fmla="val 47059"/>
            </a:avLst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24"/>
          <p:cNvSpPr txBox="1"/>
          <p:nvPr/>
        </p:nvSpPr>
        <p:spPr>
          <a:xfrm>
            <a:off x="5212079" y="3657600"/>
            <a:ext cx="50292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28%</a:t>
            </a:r>
          </a:p>
        </p:txBody>
      </p:sp>
      <p:sp>
        <p:nvSpPr>
          <p:cNvPr id="399" name="Text 25"/>
          <p:cNvSpPr txBox="1"/>
          <p:nvPr/>
        </p:nvSpPr>
        <p:spPr>
          <a:xfrm>
            <a:off x="1325880" y="4041647"/>
            <a:ext cx="56692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直接</a:t>
            </a:r>
          </a:p>
        </p:txBody>
      </p:sp>
      <p:sp>
        <p:nvSpPr>
          <p:cNvPr id="400" name="Shape 26"/>
          <p:cNvSpPr/>
          <p:nvPr/>
        </p:nvSpPr>
        <p:spPr>
          <a:xfrm>
            <a:off x="2057400" y="4096511"/>
            <a:ext cx="1114697" cy="155449"/>
          </a:xfrm>
          <a:prstGeom prst="roundRect">
            <a:avLst>
              <a:gd name="adj" fmla="val 47059"/>
            </a:avLst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Text 27"/>
          <p:cNvSpPr txBox="1"/>
          <p:nvPr/>
        </p:nvSpPr>
        <p:spPr>
          <a:xfrm>
            <a:off x="5212079" y="4041647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16%</a:t>
            </a:r>
          </a:p>
        </p:txBody>
      </p:sp>
      <p:sp>
        <p:nvSpPr>
          <p:cNvPr id="402" name="Text 28"/>
          <p:cNvSpPr txBox="1"/>
          <p:nvPr/>
        </p:nvSpPr>
        <p:spPr>
          <a:xfrm>
            <a:off x="1325880" y="4425696"/>
            <a:ext cx="56692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其他</a:t>
            </a:r>
          </a:p>
        </p:txBody>
      </p:sp>
      <p:sp>
        <p:nvSpPr>
          <p:cNvPr id="403" name="Shape 29"/>
          <p:cNvSpPr/>
          <p:nvPr/>
        </p:nvSpPr>
        <p:spPr>
          <a:xfrm>
            <a:off x="2057400" y="4480559"/>
            <a:ext cx="975361" cy="155449"/>
          </a:xfrm>
          <a:prstGeom prst="roundRect">
            <a:avLst>
              <a:gd name="adj" fmla="val 47059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30"/>
          <p:cNvSpPr txBox="1"/>
          <p:nvPr/>
        </p:nvSpPr>
        <p:spPr>
          <a:xfrm>
            <a:off x="5212079" y="4425696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14%</a:t>
            </a:r>
          </a:p>
        </p:txBody>
      </p:sp>
      <p:sp>
        <p:nvSpPr>
          <p:cNvPr id="405" name="Shape 31"/>
          <p:cNvSpPr/>
          <p:nvPr/>
        </p:nvSpPr>
        <p:spPr>
          <a:xfrm>
            <a:off x="6629400" y="1508760"/>
            <a:ext cx="4754880" cy="3611880"/>
          </a:xfrm>
          <a:prstGeom prst="roundRect">
            <a:avLst>
              <a:gd name="adj" fmla="val 2532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6" name="Text 32"/>
          <p:cNvSpPr txBox="1"/>
          <p:nvPr/>
        </p:nvSpPr>
        <p:spPr>
          <a:xfrm>
            <a:off x="6931152" y="1828800"/>
            <a:ext cx="27432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7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一次生成的真实过程</a:t>
            </a:r>
          </a:p>
        </p:txBody>
      </p:sp>
      <p:sp>
        <p:nvSpPr>
          <p:cNvPr id="407" name="Shape 33"/>
          <p:cNvSpPr/>
          <p:nvPr/>
        </p:nvSpPr>
        <p:spPr>
          <a:xfrm>
            <a:off x="6967728" y="2514599"/>
            <a:ext cx="237745" cy="237746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34"/>
          <p:cNvSpPr txBox="1"/>
          <p:nvPr/>
        </p:nvSpPr>
        <p:spPr>
          <a:xfrm>
            <a:off x="6967728" y="2560320"/>
            <a:ext cx="2377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9" name="Text 35"/>
          <p:cNvSpPr txBox="1"/>
          <p:nvPr/>
        </p:nvSpPr>
        <p:spPr>
          <a:xfrm>
            <a:off x="7360919" y="2487167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处理提示词</a:t>
            </a:r>
          </a:p>
        </p:txBody>
      </p:sp>
      <p:sp>
        <p:nvSpPr>
          <p:cNvPr id="410" name="Text 36"/>
          <p:cNvSpPr txBox="1"/>
          <p:nvPr/>
        </p:nvSpPr>
        <p:spPr>
          <a:xfrm>
            <a:off x="8549640" y="2487167"/>
            <a:ext cx="24231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77823">
              <a:defRPr sz="1056">
                <a:solidFill>
                  <a:srgbClr val="A9B5C6"/>
                </a:solidFill>
              </a:defRPr>
            </a:lvl1pPr>
          </a:lstStyle>
          <a:p>
            <a:pPr/>
            <a:r>
              <a:t>token → embedding → Transformer</a:t>
            </a:r>
          </a:p>
        </p:txBody>
      </p:sp>
      <p:sp>
        <p:nvSpPr>
          <p:cNvPr id="411" name="Shape 37"/>
          <p:cNvSpPr/>
          <p:nvPr/>
        </p:nvSpPr>
        <p:spPr>
          <a:xfrm>
            <a:off x="6967728" y="3081527"/>
            <a:ext cx="237745" cy="237745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38"/>
          <p:cNvSpPr txBox="1"/>
          <p:nvPr/>
        </p:nvSpPr>
        <p:spPr>
          <a:xfrm>
            <a:off x="6967728" y="3127248"/>
            <a:ext cx="2377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3" name="Text 39"/>
          <p:cNvSpPr txBox="1"/>
          <p:nvPr/>
        </p:nvSpPr>
        <p:spPr>
          <a:xfrm>
            <a:off x="7360919" y="3054095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22376">
              <a:defRPr sz="1027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选择下一个 token</a:t>
            </a:r>
          </a:p>
        </p:txBody>
      </p:sp>
      <p:sp>
        <p:nvSpPr>
          <p:cNvPr id="414" name="Text 40"/>
          <p:cNvSpPr txBox="1"/>
          <p:nvPr/>
        </p:nvSpPr>
        <p:spPr>
          <a:xfrm>
            <a:off x="8549640" y="3054095"/>
            <a:ext cx="24231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A9B5C6"/>
                </a:solidFill>
              </a:defRPr>
            </a:lvl1pPr>
          </a:lstStyle>
          <a:p>
            <a:pPr/>
            <a:r>
              <a:t>贪心、采样、温度等策略</a:t>
            </a:r>
          </a:p>
        </p:txBody>
      </p:sp>
      <p:sp>
        <p:nvSpPr>
          <p:cNvPr id="415" name="Shape 41"/>
          <p:cNvSpPr/>
          <p:nvPr/>
        </p:nvSpPr>
        <p:spPr>
          <a:xfrm>
            <a:off x="6967728" y="3648455"/>
            <a:ext cx="237745" cy="237745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42"/>
          <p:cNvSpPr txBox="1"/>
          <p:nvPr/>
        </p:nvSpPr>
        <p:spPr>
          <a:xfrm>
            <a:off x="6967728" y="3694176"/>
            <a:ext cx="2377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7" name="Text 43"/>
          <p:cNvSpPr txBox="1"/>
          <p:nvPr/>
        </p:nvSpPr>
        <p:spPr>
          <a:xfrm>
            <a:off x="7360919" y="3621023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追加到上下文</a:t>
            </a:r>
          </a:p>
        </p:txBody>
      </p:sp>
      <p:sp>
        <p:nvSpPr>
          <p:cNvPr id="418" name="Text 44"/>
          <p:cNvSpPr txBox="1"/>
          <p:nvPr/>
        </p:nvSpPr>
        <p:spPr>
          <a:xfrm>
            <a:off x="8549640" y="3621023"/>
            <a:ext cx="24231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A9B5C6"/>
                </a:solidFill>
              </a:defRPr>
            </a:lvl1pPr>
          </a:lstStyle>
          <a:p>
            <a:pPr/>
            <a:r>
              <a:t>把“建议”放回输入</a:t>
            </a:r>
          </a:p>
        </p:txBody>
      </p:sp>
      <p:sp>
        <p:nvSpPr>
          <p:cNvPr id="419" name="Shape 45"/>
          <p:cNvSpPr/>
          <p:nvPr/>
        </p:nvSpPr>
        <p:spPr>
          <a:xfrm>
            <a:off x="6967728" y="4215384"/>
            <a:ext cx="237745" cy="237745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46"/>
          <p:cNvSpPr txBox="1"/>
          <p:nvPr/>
        </p:nvSpPr>
        <p:spPr>
          <a:xfrm>
            <a:off x="6967728" y="4261103"/>
            <a:ext cx="23774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1" name="Text 47"/>
          <p:cNvSpPr txBox="1"/>
          <p:nvPr/>
        </p:nvSpPr>
        <p:spPr>
          <a:xfrm>
            <a:off x="7360919" y="4187952"/>
            <a:ext cx="10972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继续下一步</a:t>
            </a:r>
          </a:p>
        </p:txBody>
      </p:sp>
      <p:sp>
        <p:nvSpPr>
          <p:cNvPr id="422" name="Text 48"/>
          <p:cNvSpPr txBox="1"/>
          <p:nvPr/>
        </p:nvSpPr>
        <p:spPr>
          <a:xfrm>
            <a:off x="8549640" y="4187952"/>
            <a:ext cx="2423161" cy="292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A9B5C6"/>
                </a:solidFill>
              </a:defRPr>
            </a:lvl1pPr>
          </a:lstStyle>
          <a:p>
            <a:pPr/>
            <a:r>
              <a:t>直到结束或达到长度限制</a:t>
            </a:r>
          </a:p>
        </p:txBody>
      </p:sp>
      <p:sp>
        <p:nvSpPr>
          <p:cNvPr id="423" name="Text 49"/>
          <p:cNvSpPr txBox="1"/>
          <p:nvPr/>
        </p:nvSpPr>
        <p:spPr>
          <a:xfrm>
            <a:off x="914399" y="5650991"/>
            <a:ext cx="102412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上下文是“这次能直接参考的桌面”，参数是长期训练得到的能力。</a:t>
            </a:r>
          </a:p>
        </p:txBody>
      </p:sp>
      <p:sp>
        <p:nvSpPr>
          <p:cNvPr id="424" name="Text 50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6EE7F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09 · TRANSFORMER 局限</a:t>
            </a:r>
          </a:p>
        </p:txBody>
      </p:sp>
      <p:sp>
        <p:nvSpPr>
          <p:cNvPr id="429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上下文窗口为什么有限：算力、缓存、位置和有效利用都在约束它</a:t>
            </a:r>
          </a:p>
        </p:txBody>
      </p:sp>
      <p:sp>
        <p:nvSpPr>
          <p:cNvPr id="430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Shape 3"/>
          <p:cNvSpPr/>
          <p:nvPr/>
        </p:nvSpPr>
        <p:spPr>
          <a:xfrm>
            <a:off x="731519" y="1691639"/>
            <a:ext cx="4983481" cy="1508761"/>
          </a:xfrm>
          <a:prstGeom prst="roundRect">
            <a:avLst>
              <a:gd name="adj" fmla="val 6061"/>
            </a:avLst>
          </a:prstGeom>
          <a:solidFill>
            <a:srgbClr val="1A2454"/>
          </a:solidFill>
          <a:ln w="1651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Shape 4"/>
          <p:cNvSpPr/>
          <p:nvPr/>
        </p:nvSpPr>
        <p:spPr>
          <a:xfrm>
            <a:off x="1005839" y="1984248"/>
            <a:ext cx="329185" cy="329185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5"/>
          <p:cNvSpPr txBox="1"/>
          <p:nvPr/>
        </p:nvSpPr>
        <p:spPr>
          <a:xfrm>
            <a:off x="1005839" y="2057400"/>
            <a:ext cx="329185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34" name="Text 6"/>
          <p:cNvSpPr txBox="1"/>
          <p:nvPr/>
        </p:nvSpPr>
        <p:spPr>
          <a:xfrm>
            <a:off x="1536192" y="1901951"/>
            <a:ext cx="20116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注意力计算</a:t>
            </a:r>
          </a:p>
        </p:txBody>
      </p:sp>
      <p:sp>
        <p:nvSpPr>
          <p:cNvPr id="435" name="Text 7"/>
          <p:cNvSpPr txBox="1"/>
          <p:nvPr/>
        </p:nvSpPr>
        <p:spPr>
          <a:xfrm>
            <a:off x="1536191" y="2350007"/>
            <a:ext cx="3749042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n 个 token 的全注意力约有 n² 个位置配对。长度翻倍，配对约变四倍。</a:t>
            </a:r>
          </a:p>
        </p:txBody>
      </p:sp>
      <p:sp>
        <p:nvSpPr>
          <p:cNvPr id="436" name="Shape 8"/>
          <p:cNvSpPr/>
          <p:nvPr/>
        </p:nvSpPr>
        <p:spPr>
          <a:xfrm>
            <a:off x="6355079" y="1691639"/>
            <a:ext cx="4983481" cy="1508761"/>
          </a:xfrm>
          <a:prstGeom prst="roundRect">
            <a:avLst>
              <a:gd name="adj" fmla="val 6061"/>
            </a:avLst>
          </a:prstGeom>
          <a:solidFill>
            <a:srgbClr val="1A2454"/>
          </a:solidFill>
          <a:ln w="1651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7" name="Shape 9"/>
          <p:cNvSpPr/>
          <p:nvPr/>
        </p:nvSpPr>
        <p:spPr>
          <a:xfrm>
            <a:off x="6629399" y="1984248"/>
            <a:ext cx="329186" cy="329185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Text 10"/>
          <p:cNvSpPr txBox="1"/>
          <p:nvPr/>
        </p:nvSpPr>
        <p:spPr>
          <a:xfrm>
            <a:off x="6629399" y="2057400"/>
            <a:ext cx="329186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9" name="Text 11"/>
          <p:cNvSpPr txBox="1"/>
          <p:nvPr/>
        </p:nvSpPr>
        <p:spPr>
          <a:xfrm>
            <a:off x="7159752" y="1901951"/>
            <a:ext cx="20116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KV cache</a:t>
            </a:r>
          </a:p>
        </p:txBody>
      </p:sp>
      <p:sp>
        <p:nvSpPr>
          <p:cNvPr id="440" name="Text 12"/>
          <p:cNvSpPr txBox="1"/>
          <p:nvPr/>
        </p:nvSpPr>
        <p:spPr>
          <a:xfrm>
            <a:off x="7159752" y="2350007"/>
            <a:ext cx="3749041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历史 K/V 会复用，但 token 越长，缓存越大；生成每一步仍要访问历史。</a:t>
            </a:r>
          </a:p>
        </p:txBody>
      </p:sp>
      <p:sp>
        <p:nvSpPr>
          <p:cNvPr id="441" name="Shape 13"/>
          <p:cNvSpPr/>
          <p:nvPr/>
        </p:nvSpPr>
        <p:spPr>
          <a:xfrm>
            <a:off x="731519" y="3657600"/>
            <a:ext cx="4983481" cy="1508761"/>
          </a:xfrm>
          <a:prstGeom prst="roundRect">
            <a:avLst>
              <a:gd name="adj" fmla="val 6061"/>
            </a:avLst>
          </a:prstGeom>
          <a:solidFill>
            <a:srgbClr val="1A2454"/>
          </a:solidFill>
          <a:ln w="1651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Shape 14"/>
          <p:cNvSpPr/>
          <p:nvPr/>
        </p:nvSpPr>
        <p:spPr>
          <a:xfrm>
            <a:off x="1005839" y="3950208"/>
            <a:ext cx="329185" cy="329185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Text 15"/>
          <p:cNvSpPr txBox="1"/>
          <p:nvPr/>
        </p:nvSpPr>
        <p:spPr>
          <a:xfrm>
            <a:off x="1005839" y="4023359"/>
            <a:ext cx="3291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4" name="Text 16"/>
          <p:cNvSpPr txBox="1"/>
          <p:nvPr/>
        </p:nvSpPr>
        <p:spPr>
          <a:xfrm>
            <a:off x="1536192" y="3867911"/>
            <a:ext cx="20116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位置泛化</a:t>
            </a:r>
          </a:p>
        </p:txBody>
      </p:sp>
      <p:sp>
        <p:nvSpPr>
          <p:cNvPr id="445" name="Text 17"/>
          <p:cNvSpPr txBox="1"/>
          <p:nvPr/>
        </p:nvSpPr>
        <p:spPr>
          <a:xfrm>
            <a:off x="1536191" y="4315967"/>
            <a:ext cx="3749042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能算出更远的位置，不代表模型训练过这种距离，更不代表一定用得好。</a:t>
            </a:r>
          </a:p>
        </p:txBody>
      </p:sp>
      <p:sp>
        <p:nvSpPr>
          <p:cNvPr id="446" name="Shape 18"/>
          <p:cNvSpPr/>
          <p:nvPr/>
        </p:nvSpPr>
        <p:spPr>
          <a:xfrm>
            <a:off x="6355079" y="3657600"/>
            <a:ext cx="4983481" cy="1508761"/>
          </a:xfrm>
          <a:prstGeom prst="roundRect">
            <a:avLst>
              <a:gd name="adj" fmla="val 6061"/>
            </a:avLst>
          </a:prstGeom>
          <a:solidFill>
            <a:srgbClr val="1A2454"/>
          </a:solidFill>
          <a:ln w="1651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Shape 19"/>
          <p:cNvSpPr/>
          <p:nvPr/>
        </p:nvSpPr>
        <p:spPr>
          <a:xfrm>
            <a:off x="6629399" y="3950208"/>
            <a:ext cx="329186" cy="32918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 20"/>
          <p:cNvSpPr txBox="1"/>
          <p:nvPr/>
        </p:nvSpPr>
        <p:spPr>
          <a:xfrm>
            <a:off x="6629399" y="4023359"/>
            <a:ext cx="32918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49" name="Text 21"/>
          <p:cNvSpPr txBox="1"/>
          <p:nvPr/>
        </p:nvSpPr>
        <p:spPr>
          <a:xfrm>
            <a:off x="7159752" y="3867911"/>
            <a:ext cx="20116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有效利用</a:t>
            </a:r>
          </a:p>
        </p:txBody>
      </p:sp>
      <p:sp>
        <p:nvSpPr>
          <p:cNvPr id="450" name="Text 22"/>
          <p:cNvSpPr txBox="1"/>
          <p:nvPr/>
        </p:nvSpPr>
        <p:spPr>
          <a:xfrm>
            <a:off x="7159752" y="4315967"/>
            <a:ext cx="3749041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资料放进窗口后，模型仍可能漏掉中间证据、多个条件或远处关系。</a:t>
            </a:r>
          </a:p>
        </p:txBody>
      </p:sp>
      <p:sp>
        <p:nvSpPr>
          <p:cNvPr id="451" name="Text 23"/>
          <p:cNvSpPr txBox="1"/>
          <p:nvPr/>
        </p:nvSpPr>
        <p:spPr>
          <a:xfrm>
            <a:off x="914399" y="5936615"/>
            <a:ext cx="10332722" cy="196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“支持更长输入”不等于“无限记忆”，也不等于“所有证据都能可靠综合”。</a:t>
            </a:r>
          </a:p>
        </p:txBody>
      </p:sp>
      <p:sp>
        <p:nvSpPr>
          <p:cNvPr id="452" name="Text 24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10 · RSI 的动机</a:t>
            </a:r>
          </a:p>
        </p:txBody>
      </p:sp>
      <p:sp>
        <p:nvSpPr>
          <p:cNvPr id="457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为什么需要 RSI：单次改进太慢，人工试错无法覆盖所有环节</a:t>
            </a:r>
          </a:p>
        </p:txBody>
      </p:sp>
      <p:sp>
        <p:nvSpPr>
          <p:cNvPr id="458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Text 3"/>
          <p:cNvSpPr txBox="1"/>
          <p:nvPr/>
        </p:nvSpPr>
        <p:spPr>
          <a:xfrm>
            <a:off x="731519" y="1426463"/>
            <a:ext cx="107899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先看痛点，再看闭环。RSI 是对迭代瓶颈的工程回应。</a:t>
            </a:r>
          </a:p>
        </p:txBody>
      </p:sp>
      <p:sp>
        <p:nvSpPr>
          <p:cNvPr id="460" name="Shape 4"/>
          <p:cNvSpPr/>
          <p:nvPr/>
        </p:nvSpPr>
        <p:spPr>
          <a:xfrm>
            <a:off x="731519" y="2148839"/>
            <a:ext cx="2834641" cy="960121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78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1" name="Text 5"/>
          <p:cNvSpPr txBox="1"/>
          <p:nvPr/>
        </p:nvSpPr>
        <p:spPr>
          <a:xfrm>
            <a:off x="914399" y="2295144"/>
            <a:ext cx="23317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模型参数静态</a:t>
            </a:r>
          </a:p>
        </p:txBody>
      </p:sp>
      <p:sp>
        <p:nvSpPr>
          <p:cNvPr id="462" name="Text 6"/>
          <p:cNvSpPr txBox="1"/>
          <p:nvPr/>
        </p:nvSpPr>
        <p:spPr>
          <a:xfrm>
            <a:off x="914399" y="2624327"/>
            <a:ext cx="2423162" cy="32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77823">
              <a:defRPr sz="959">
                <a:solidFill>
                  <a:srgbClr val="637381"/>
                </a:solidFill>
              </a:defRPr>
            </a:lvl1pPr>
          </a:lstStyle>
          <a:p>
            <a:pPr/>
            <a:r>
              <a:t>训练结束后，系统不会因为一次失败自动重写自己。</a:t>
            </a:r>
          </a:p>
        </p:txBody>
      </p:sp>
      <p:sp>
        <p:nvSpPr>
          <p:cNvPr id="463" name="Shape 7"/>
          <p:cNvSpPr/>
          <p:nvPr/>
        </p:nvSpPr>
        <p:spPr>
          <a:xfrm>
            <a:off x="3977640" y="2148839"/>
            <a:ext cx="2834641" cy="960121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780">
            <a:solidFill>
              <a:srgbClr val="FFC857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4" name="Text 8"/>
          <p:cNvSpPr txBox="1"/>
          <p:nvPr/>
        </p:nvSpPr>
        <p:spPr>
          <a:xfrm>
            <a:off x="4160520" y="2295144"/>
            <a:ext cx="23317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人工迭代慢</a:t>
            </a:r>
          </a:p>
        </p:txBody>
      </p:sp>
      <p:sp>
        <p:nvSpPr>
          <p:cNvPr id="465" name="Text 9"/>
          <p:cNvSpPr txBox="1"/>
          <p:nvPr/>
        </p:nvSpPr>
        <p:spPr>
          <a:xfrm>
            <a:off x="4160520" y="2624327"/>
            <a:ext cx="2423161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637381"/>
                </a:solidFill>
              </a:defRPr>
            </a:lvl1pPr>
          </a:lstStyle>
          <a:p>
            <a:pPr/>
            <a:r>
              <a:t>数据、提示、代码、评测常由人逐项试错。</a:t>
            </a:r>
          </a:p>
        </p:txBody>
      </p:sp>
      <p:sp>
        <p:nvSpPr>
          <p:cNvPr id="466" name="Shape 10"/>
          <p:cNvSpPr/>
          <p:nvPr/>
        </p:nvSpPr>
        <p:spPr>
          <a:xfrm>
            <a:off x="731519" y="3474720"/>
            <a:ext cx="2834641" cy="960121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780">
            <a:solidFill>
              <a:srgbClr val="6EE7F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7" name="Text 11"/>
          <p:cNvSpPr txBox="1"/>
          <p:nvPr/>
        </p:nvSpPr>
        <p:spPr>
          <a:xfrm>
            <a:off x="914399" y="3621023"/>
            <a:ext cx="23317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历史越来越长</a:t>
            </a:r>
          </a:p>
        </p:txBody>
      </p:sp>
      <p:sp>
        <p:nvSpPr>
          <p:cNvPr id="468" name="Text 12"/>
          <p:cNvSpPr txBox="1"/>
          <p:nvPr/>
        </p:nvSpPr>
        <p:spPr>
          <a:xfrm>
            <a:off x="914399" y="3950208"/>
            <a:ext cx="2423162" cy="32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77823">
              <a:defRPr sz="959">
                <a:solidFill>
                  <a:srgbClr val="637381"/>
                </a:solidFill>
              </a:defRPr>
            </a:lvl1pPr>
          </a:lstStyle>
          <a:p>
            <a:pPr/>
            <a:r>
              <a:t>实验记录在外部，但每次能读到的上下文有限。</a:t>
            </a:r>
          </a:p>
        </p:txBody>
      </p:sp>
      <p:sp>
        <p:nvSpPr>
          <p:cNvPr id="469" name="Shape 13"/>
          <p:cNvSpPr/>
          <p:nvPr/>
        </p:nvSpPr>
        <p:spPr>
          <a:xfrm>
            <a:off x="3977640" y="3474720"/>
            <a:ext cx="2834641" cy="960121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780">
            <a:solidFill>
              <a:srgbClr val="1B998B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0" name="Text 14"/>
          <p:cNvSpPr txBox="1"/>
          <p:nvPr/>
        </p:nvSpPr>
        <p:spPr>
          <a:xfrm>
            <a:off x="4160520" y="3621023"/>
            <a:ext cx="23317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改进难以验证</a:t>
            </a:r>
          </a:p>
        </p:txBody>
      </p:sp>
      <p:sp>
        <p:nvSpPr>
          <p:cNvPr id="471" name="Text 15"/>
          <p:cNvSpPr txBox="1"/>
          <p:nvPr/>
        </p:nvSpPr>
        <p:spPr>
          <a:xfrm>
            <a:off x="4160520" y="3950208"/>
            <a:ext cx="2423161" cy="320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77823">
              <a:defRPr sz="959">
                <a:solidFill>
                  <a:srgbClr val="637381"/>
                </a:solidFill>
              </a:defRPr>
            </a:lvl1pPr>
          </a:lstStyle>
          <a:p>
            <a:pPr/>
            <a:r>
              <a:t>一个分数变好，不代表真实任务和旧能力都变好。</a:t>
            </a:r>
          </a:p>
        </p:txBody>
      </p:sp>
      <p:sp>
        <p:nvSpPr>
          <p:cNvPr id="472" name="Shape 16"/>
          <p:cNvSpPr/>
          <p:nvPr/>
        </p:nvSpPr>
        <p:spPr>
          <a:xfrm>
            <a:off x="6720840" y="3310128"/>
            <a:ext cx="548641" cy="320041"/>
          </a:xfrm>
          <a:prstGeom prst="chevron">
            <a:avLst>
              <a:gd name="adj" fmla="val 50000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3" name="Shape 17"/>
          <p:cNvSpPr/>
          <p:nvPr/>
        </p:nvSpPr>
        <p:spPr>
          <a:xfrm>
            <a:off x="7543800" y="2148839"/>
            <a:ext cx="3886200" cy="2697481"/>
          </a:xfrm>
          <a:prstGeom prst="roundRect">
            <a:avLst>
              <a:gd name="adj" fmla="val 3390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4" name="Text 18"/>
          <p:cNvSpPr txBox="1"/>
          <p:nvPr/>
        </p:nvSpPr>
        <p:spPr>
          <a:xfrm>
            <a:off x="7863840" y="2514600"/>
            <a:ext cx="324612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850391">
              <a:defRPr sz="186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需要一个持续改进闭环</a:t>
            </a:r>
          </a:p>
        </p:txBody>
      </p:sp>
      <p:sp>
        <p:nvSpPr>
          <p:cNvPr id="475" name="Shape 19"/>
          <p:cNvSpPr/>
          <p:nvPr/>
        </p:nvSpPr>
        <p:spPr>
          <a:xfrm>
            <a:off x="8101583" y="3136392"/>
            <a:ext cx="146305" cy="146305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20"/>
          <p:cNvSpPr txBox="1"/>
          <p:nvPr/>
        </p:nvSpPr>
        <p:spPr>
          <a:xfrm>
            <a:off x="8412480" y="3090672"/>
            <a:ext cx="23774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发现弱点</a:t>
            </a:r>
          </a:p>
        </p:txBody>
      </p:sp>
      <p:sp>
        <p:nvSpPr>
          <p:cNvPr id="477" name="Shape 21"/>
          <p:cNvSpPr/>
          <p:nvPr/>
        </p:nvSpPr>
        <p:spPr>
          <a:xfrm>
            <a:off x="8101583" y="3575303"/>
            <a:ext cx="146305" cy="146305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22"/>
          <p:cNvSpPr txBox="1"/>
          <p:nvPr/>
        </p:nvSpPr>
        <p:spPr>
          <a:xfrm>
            <a:off x="8412480" y="3529584"/>
            <a:ext cx="23774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提出候选改动</a:t>
            </a:r>
          </a:p>
        </p:txBody>
      </p:sp>
      <p:sp>
        <p:nvSpPr>
          <p:cNvPr id="479" name="Shape 23"/>
          <p:cNvSpPr/>
          <p:nvPr/>
        </p:nvSpPr>
        <p:spPr>
          <a:xfrm>
            <a:off x="8101583" y="4014215"/>
            <a:ext cx="146305" cy="146305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24"/>
          <p:cNvSpPr txBox="1"/>
          <p:nvPr/>
        </p:nvSpPr>
        <p:spPr>
          <a:xfrm>
            <a:off x="8412480" y="3968496"/>
            <a:ext cx="23774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实际跑实验</a:t>
            </a:r>
          </a:p>
        </p:txBody>
      </p:sp>
      <p:sp>
        <p:nvSpPr>
          <p:cNvPr id="481" name="Shape 25"/>
          <p:cNvSpPr/>
          <p:nvPr/>
        </p:nvSpPr>
        <p:spPr>
          <a:xfrm>
            <a:off x="8101583" y="4453128"/>
            <a:ext cx="146305" cy="146305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26"/>
          <p:cNvSpPr txBox="1"/>
          <p:nvPr/>
        </p:nvSpPr>
        <p:spPr>
          <a:xfrm>
            <a:off x="8412480" y="4407408"/>
            <a:ext cx="23774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外部评估后保留</a:t>
            </a:r>
          </a:p>
        </p:txBody>
      </p:sp>
      <p:sp>
        <p:nvSpPr>
          <p:cNvPr id="483" name="Text 27"/>
          <p:cNvSpPr txBox="1"/>
          <p:nvPr/>
        </p:nvSpPr>
        <p:spPr>
          <a:xfrm>
            <a:off x="1097279" y="5806440"/>
            <a:ext cx="97840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通过评估的版本进入下一轮，成为下一轮改进的基础。</a:t>
            </a:r>
          </a:p>
        </p:txBody>
      </p:sp>
      <p:sp>
        <p:nvSpPr>
          <p:cNvPr id="484" name="Text 28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11 · RSI 原理</a:t>
            </a:r>
          </a:p>
        </p:txBody>
      </p:sp>
      <p:sp>
        <p:nvSpPr>
          <p:cNvPr id="489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RSI：把“发现问题 → 验证改动”变成受控循环</a:t>
            </a:r>
          </a:p>
        </p:txBody>
      </p:sp>
      <p:sp>
        <p:nvSpPr>
          <p:cNvPr id="490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1" name="Shape 3"/>
          <p:cNvSpPr/>
          <p:nvPr/>
        </p:nvSpPr>
        <p:spPr>
          <a:xfrm>
            <a:off x="868679" y="2926079"/>
            <a:ext cx="1508762" cy="1508761"/>
          </a:xfrm>
          <a:prstGeom prst="ellipse">
            <a:avLst/>
          </a:prstGeom>
          <a:solidFill>
            <a:srgbClr val="6EE7F9"/>
          </a:solidFill>
          <a:ln w="1524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Text 4"/>
          <p:cNvSpPr txBox="1"/>
          <p:nvPr/>
        </p:nvSpPr>
        <p:spPr>
          <a:xfrm>
            <a:off x="960119" y="3364991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发现弱点</a:t>
            </a:r>
          </a:p>
        </p:txBody>
      </p:sp>
      <p:sp>
        <p:nvSpPr>
          <p:cNvPr id="493" name="Text 5"/>
          <p:cNvSpPr txBox="1"/>
          <p:nvPr/>
        </p:nvSpPr>
        <p:spPr>
          <a:xfrm>
            <a:off x="960119" y="3840479"/>
            <a:ext cx="13258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失败日志 / 评测</a:t>
            </a:r>
          </a:p>
        </p:txBody>
      </p:sp>
      <p:sp>
        <p:nvSpPr>
          <p:cNvPr id="494" name="Shape 6"/>
          <p:cNvSpPr/>
          <p:nvPr/>
        </p:nvSpPr>
        <p:spPr>
          <a:xfrm flipV="1">
            <a:off x="2258865" y="2697480"/>
            <a:ext cx="1042777" cy="609339"/>
          </a:xfrm>
          <a:prstGeom prst="line">
            <a:avLst/>
          </a:prstGeom>
          <a:ln w="30480">
            <a:solidFill>
              <a:srgbClr val="1B99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Shape 7"/>
          <p:cNvSpPr/>
          <p:nvPr/>
        </p:nvSpPr>
        <p:spPr>
          <a:xfrm>
            <a:off x="3291840" y="1965960"/>
            <a:ext cx="1508761" cy="1508761"/>
          </a:xfrm>
          <a:prstGeom prst="ellipse">
            <a:avLst/>
          </a:prstGeom>
          <a:solidFill>
            <a:srgbClr val="1B998B"/>
          </a:solidFill>
          <a:ln w="1524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Text 8"/>
          <p:cNvSpPr txBox="1"/>
          <p:nvPr/>
        </p:nvSpPr>
        <p:spPr>
          <a:xfrm>
            <a:off x="3383279" y="2404872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提出改动</a:t>
            </a:r>
          </a:p>
        </p:txBody>
      </p:sp>
      <p:sp>
        <p:nvSpPr>
          <p:cNvPr id="497" name="Text 9"/>
          <p:cNvSpPr txBox="1"/>
          <p:nvPr/>
        </p:nvSpPr>
        <p:spPr>
          <a:xfrm>
            <a:off x="3383279" y="2880360"/>
            <a:ext cx="13258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代码 / 数据 / 策略</a:t>
            </a:r>
          </a:p>
        </p:txBody>
      </p:sp>
      <p:sp>
        <p:nvSpPr>
          <p:cNvPr id="498" name="Shape 10"/>
          <p:cNvSpPr/>
          <p:nvPr/>
        </p:nvSpPr>
        <p:spPr>
          <a:xfrm>
            <a:off x="4800600" y="2697479"/>
            <a:ext cx="1188721" cy="1"/>
          </a:xfrm>
          <a:prstGeom prst="line">
            <a:avLst/>
          </a:prstGeom>
          <a:ln w="30480">
            <a:solidFill>
              <a:srgbClr val="1B99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Shape 11"/>
          <p:cNvSpPr/>
          <p:nvPr/>
        </p:nvSpPr>
        <p:spPr>
          <a:xfrm>
            <a:off x="5989320" y="1965960"/>
            <a:ext cx="1508761" cy="1508761"/>
          </a:xfrm>
          <a:prstGeom prst="ellipse">
            <a:avLst/>
          </a:prstGeom>
          <a:solidFill>
            <a:srgbClr val="1A2454"/>
          </a:solidFill>
          <a:ln w="1524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Text 12"/>
          <p:cNvSpPr txBox="1"/>
          <p:nvPr/>
        </p:nvSpPr>
        <p:spPr>
          <a:xfrm>
            <a:off x="6080759" y="2404872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沙盒实验</a:t>
            </a:r>
          </a:p>
        </p:txBody>
      </p:sp>
      <p:sp>
        <p:nvSpPr>
          <p:cNvPr id="501" name="Text 13"/>
          <p:cNvSpPr txBox="1"/>
          <p:nvPr/>
        </p:nvSpPr>
        <p:spPr>
          <a:xfrm>
            <a:off x="6080759" y="2880360"/>
            <a:ext cx="13258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固定预算执行</a:t>
            </a:r>
          </a:p>
        </p:txBody>
      </p:sp>
      <p:sp>
        <p:nvSpPr>
          <p:cNvPr id="502" name="Shape 14"/>
          <p:cNvSpPr/>
          <p:nvPr/>
        </p:nvSpPr>
        <p:spPr>
          <a:xfrm>
            <a:off x="7498080" y="2697479"/>
            <a:ext cx="1143001" cy="960121"/>
          </a:xfrm>
          <a:prstGeom prst="line">
            <a:avLst/>
          </a:prstGeom>
          <a:ln w="30480">
            <a:solidFill>
              <a:srgbClr val="1B998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Shape 15"/>
          <p:cNvSpPr/>
          <p:nvPr/>
        </p:nvSpPr>
        <p:spPr>
          <a:xfrm>
            <a:off x="8641080" y="2926079"/>
            <a:ext cx="1508761" cy="1508761"/>
          </a:xfrm>
          <a:prstGeom prst="ellipse">
            <a:avLst/>
          </a:prstGeom>
          <a:solidFill>
            <a:srgbClr val="FF7A59"/>
          </a:solidFill>
          <a:ln w="1524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Text 16"/>
          <p:cNvSpPr txBox="1"/>
          <p:nvPr/>
        </p:nvSpPr>
        <p:spPr>
          <a:xfrm>
            <a:off x="8732519" y="3364991"/>
            <a:ext cx="1325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外部评估</a:t>
            </a:r>
          </a:p>
        </p:txBody>
      </p:sp>
      <p:sp>
        <p:nvSpPr>
          <p:cNvPr id="505" name="Text 17"/>
          <p:cNvSpPr txBox="1"/>
          <p:nvPr/>
        </p:nvSpPr>
        <p:spPr>
          <a:xfrm>
            <a:off x="8732519" y="3840479"/>
            <a:ext cx="132588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留出任务 + 回归</a:t>
            </a:r>
          </a:p>
        </p:txBody>
      </p:sp>
      <p:sp>
        <p:nvSpPr>
          <p:cNvPr id="506" name="Shape 18"/>
          <p:cNvSpPr/>
          <p:nvPr/>
        </p:nvSpPr>
        <p:spPr>
          <a:xfrm>
            <a:off x="1828800" y="4480559"/>
            <a:ext cx="7543801" cy="1"/>
          </a:xfrm>
          <a:prstGeom prst="line">
            <a:avLst/>
          </a:prstGeom>
          <a:ln w="27940">
            <a:solidFill>
              <a:srgbClr val="FFC85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Text 19"/>
          <p:cNvSpPr txBox="1"/>
          <p:nvPr/>
        </p:nvSpPr>
        <p:spPr>
          <a:xfrm>
            <a:off x="3840479" y="4590288"/>
            <a:ext cx="4206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通过才保留；失败就回滚或换候选</a:t>
            </a:r>
          </a:p>
        </p:txBody>
      </p:sp>
      <p:sp>
        <p:nvSpPr>
          <p:cNvPr id="508" name="Shape 20"/>
          <p:cNvSpPr/>
          <p:nvPr/>
        </p:nvSpPr>
        <p:spPr>
          <a:xfrm>
            <a:off x="1920239" y="5257800"/>
            <a:ext cx="841248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9" name="Text 21"/>
          <p:cNvSpPr txBox="1"/>
          <p:nvPr/>
        </p:nvSpPr>
        <p:spPr>
          <a:xfrm>
            <a:off x="2148839" y="5431535"/>
            <a:ext cx="79552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边界：权限、沙盒、独立评估、版本记录、可回滚。改进代码不等于基础模型权重自动更新。</a:t>
            </a:r>
          </a:p>
        </p:txBody>
      </p:sp>
      <p:sp>
        <p:nvSpPr>
          <p:cNvPr id="510" name="Text 22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12 · 局限性</a:t>
            </a:r>
          </a:p>
        </p:txBody>
      </p:sp>
      <p:sp>
        <p:nvSpPr>
          <p:cNvPr id="515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Transformer + RSI 的边界：循环变快，不等于自动变可靠</a:t>
            </a:r>
          </a:p>
        </p:txBody>
      </p:sp>
      <p:sp>
        <p:nvSpPr>
          <p:cNvPr id="516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Shape 3"/>
          <p:cNvSpPr/>
          <p:nvPr/>
        </p:nvSpPr>
        <p:spPr>
          <a:xfrm>
            <a:off x="731519" y="1600200"/>
            <a:ext cx="5212081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905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8" name="Shape 4"/>
          <p:cNvSpPr/>
          <p:nvPr/>
        </p:nvSpPr>
        <p:spPr>
          <a:xfrm>
            <a:off x="1005839" y="1901951"/>
            <a:ext cx="1508761" cy="283465"/>
          </a:xfrm>
          <a:prstGeom prst="roundRect">
            <a:avLst>
              <a:gd name="adj" fmla="val 48387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Text 5"/>
          <p:cNvSpPr txBox="1"/>
          <p:nvPr/>
        </p:nvSpPr>
        <p:spPr>
          <a:xfrm>
            <a:off x="1005839" y="1947672"/>
            <a:ext cx="1508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877823">
              <a:defRPr sz="1152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Transformer 仍受限</a:t>
            </a:r>
          </a:p>
        </p:txBody>
      </p:sp>
      <p:sp>
        <p:nvSpPr>
          <p:cNvPr id="520" name="Shape 6"/>
          <p:cNvSpPr/>
          <p:nvPr/>
        </p:nvSpPr>
        <p:spPr>
          <a:xfrm>
            <a:off x="1033272" y="2651760"/>
            <a:ext cx="164593" cy="164593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Text 7"/>
          <p:cNvSpPr txBox="1"/>
          <p:nvPr/>
        </p:nvSpPr>
        <p:spPr>
          <a:xfrm>
            <a:off x="1371600" y="2596895"/>
            <a:ext cx="5943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窗口</a:t>
            </a:r>
          </a:p>
        </p:txBody>
      </p:sp>
      <p:sp>
        <p:nvSpPr>
          <p:cNvPr id="522" name="Text 8"/>
          <p:cNvSpPr txBox="1"/>
          <p:nvPr/>
        </p:nvSpPr>
        <p:spPr>
          <a:xfrm>
            <a:off x="2148839" y="2596895"/>
            <a:ext cx="31546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输入和生成总量有限</a:t>
            </a:r>
          </a:p>
        </p:txBody>
      </p:sp>
      <p:sp>
        <p:nvSpPr>
          <p:cNvPr id="523" name="Shape 9"/>
          <p:cNvSpPr/>
          <p:nvPr/>
        </p:nvSpPr>
        <p:spPr>
          <a:xfrm>
            <a:off x="1033272" y="3273552"/>
            <a:ext cx="164593" cy="164593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4" name="Text 10"/>
          <p:cNvSpPr txBox="1"/>
          <p:nvPr/>
        </p:nvSpPr>
        <p:spPr>
          <a:xfrm>
            <a:off x="1371600" y="3218688"/>
            <a:ext cx="5943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成本</a:t>
            </a:r>
          </a:p>
        </p:txBody>
      </p:sp>
      <p:sp>
        <p:nvSpPr>
          <p:cNvPr id="525" name="Text 11"/>
          <p:cNvSpPr txBox="1"/>
          <p:nvPr/>
        </p:nvSpPr>
        <p:spPr>
          <a:xfrm>
            <a:off x="2148839" y="3218688"/>
            <a:ext cx="31546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长上下文、KV cache 和注意力变贵</a:t>
            </a:r>
          </a:p>
        </p:txBody>
      </p:sp>
      <p:sp>
        <p:nvSpPr>
          <p:cNvPr id="526" name="Shape 12"/>
          <p:cNvSpPr/>
          <p:nvPr/>
        </p:nvSpPr>
        <p:spPr>
          <a:xfrm>
            <a:off x="1033272" y="3895344"/>
            <a:ext cx="164593" cy="164593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ext 13"/>
          <p:cNvSpPr txBox="1"/>
          <p:nvPr/>
        </p:nvSpPr>
        <p:spPr>
          <a:xfrm>
            <a:off x="1371600" y="3840479"/>
            <a:ext cx="5943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利用</a:t>
            </a:r>
          </a:p>
        </p:txBody>
      </p:sp>
      <p:sp>
        <p:nvSpPr>
          <p:cNvPr id="528" name="Text 14"/>
          <p:cNvSpPr txBox="1"/>
          <p:nvPr/>
        </p:nvSpPr>
        <p:spPr>
          <a:xfrm>
            <a:off x="2148839" y="3840479"/>
            <a:ext cx="31546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放进去不等于找对、记牢、综合对</a:t>
            </a:r>
          </a:p>
        </p:txBody>
      </p:sp>
      <p:sp>
        <p:nvSpPr>
          <p:cNvPr id="529" name="Shape 15"/>
          <p:cNvSpPr/>
          <p:nvPr/>
        </p:nvSpPr>
        <p:spPr>
          <a:xfrm>
            <a:off x="1033272" y="4517135"/>
            <a:ext cx="164593" cy="164593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16"/>
          <p:cNvSpPr txBox="1"/>
          <p:nvPr/>
        </p:nvSpPr>
        <p:spPr>
          <a:xfrm>
            <a:off x="1371600" y="4462271"/>
            <a:ext cx="5943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事实</a:t>
            </a:r>
          </a:p>
        </p:txBody>
      </p:sp>
      <p:sp>
        <p:nvSpPr>
          <p:cNvPr id="531" name="Text 17"/>
          <p:cNvSpPr txBox="1"/>
          <p:nvPr/>
        </p:nvSpPr>
        <p:spPr>
          <a:xfrm>
            <a:off x="2148839" y="4462271"/>
            <a:ext cx="315468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生成流畅不等于真实正确</a:t>
            </a:r>
          </a:p>
        </p:txBody>
      </p:sp>
      <p:sp>
        <p:nvSpPr>
          <p:cNvPr id="532" name="Shape 18"/>
          <p:cNvSpPr/>
          <p:nvPr/>
        </p:nvSpPr>
        <p:spPr>
          <a:xfrm>
            <a:off x="6263640" y="1600200"/>
            <a:ext cx="5166360" cy="4251960"/>
          </a:xfrm>
          <a:prstGeom prst="roundRect">
            <a:avLst>
              <a:gd name="adj" fmla="val 2151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3" name="Shape 19"/>
          <p:cNvSpPr/>
          <p:nvPr/>
        </p:nvSpPr>
        <p:spPr>
          <a:xfrm>
            <a:off x="6537959" y="1901951"/>
            <a:ext cx="1234441" cy="283465"/>
          </a:xfrm>
          <a:prstGeom prst="roundRect">
            <a:avLst>
              <a:gd name="adj" fmla="val 4838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Text 20"/>
          <p:cNvSpPr txBox="1"/>
          <p:nvPr/>
        </p:nvSpPr>
        <p:spPr>
          <a:xfrm>
            <a:off x="6537959" y="1947672"/>
            <a:ext cx="12344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RSI 仍受限</a:t>
            </a:r>
          </a:p>
        </p:txBody>
      </p:sp>
      <p:sp>
        <p:nvSpPr>
          <p:cNvPr id="535" name="Shape 21"/>
          <p:cNvSpPr/>
          <p:nvPr/>
        </p:nvSpPr>
        <p:spPr>
          <a:xfrm>
            <a:off x="6565392" y="2651760"/>
            <a:ext cx="164593" cy="164593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22"/>
          <p:cNvSpPr txBox="1"/>
          <p:nvPr/>
        </p:nvSpPr>
        <p:spPr>
          <a:xfrm>
            <a:off x="6903719" y="2596895"/>
            <a:ext cx="822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评测投机</a:t>
            </a:r>
          </a:p>
        </p:txBody>
      </p:sp>
      <p:sp>
        <p:nvSpPr>
          <p:cNvPr id="537" name="Text 23"/>
          <p:cNvSpPr txBox="1"/>
          <p:nvPr/>
        </p:nvSpPr>
        <p:spPr>
          <a:xfrm>
            <a:off x="7909559" y="2596895"/>
            <a:ext cx="2971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分数变好，不等于真实任务变好</a:t>
            </a:r>
          </a:p>
        </p:txBody>
      </p:sp>
      <p:sp>
        <p:nvSpPr>
          <p:cNvPr id="538" name="Shape 24"/>
          <p:cNvSpPr/>
          <p:nvPr/>
        </p:nvSpPr>
        <p:spPr>
          <a:xfrm>
            <a:off x="6565392" y="3273552"/>
            <a:ext cx="164593" cy="164593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9" name="Text 25"/>
          <p:cNvSpPr txBox="1"/>
          <p:nvPr/>
        </p:nvSpPr>
        <p:spPr>
          <a:xfrm>
            <a:off x="6903719" y="3218688"/>
            <a:ext cx="822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误判传播</a:t>
            </a:r>
          </a:p>
        </p:txBody>
      </p:sp>
      <p:sp>
        <p:nvSpPr>
          <p:cNvPr id="540" name="Text 26"/>
          <p:cNvSpPr txBox="1"/>
          <p:nvPr/>
        </p:nvSpPr>
        <p:spPr>
          <a:xfrm>
            <a:off x="7909559" y="3218688"/>
            <a:ext cx="2971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错误候选被接受，会进入下一轮</a:t>
            </a:r>
          </a:p>
        </p:txBody>
      </p:sp>
      <p:sp>
        <p:nvSpPr>
          <p:cNvPr id="541" name="Shape 27"/>
          <p:cNvSpPr/>
          <p:nvPr/>
        </p:nvSpPr>
        <p:spPr>
          <a:xfrm>
            <a:off x="6565392" y="3895344"/>
            <a:ext cx="164593" cy="164593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 28"/>
          <p:cNvSpPr txBox="1"/>
          <p:nvPr/>
        </p:nvSpPr>
        <p:spPr>
          <a:xfrm>
            <a:off x="6903719" y="3840479"/>
            <a:ext cx="822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资源成本</a:t>
            </a:r>
          </a:p>
        </p:txBody>
      </p:sp>
      <p:sp>
        <p:nvSpPr>
          <p:cNvPr id="543" name="Text 29"/>
          <p:cNvSpPr txBox="1"/>
          <p:nvPr/>
        </p:nvSpPr>
        <p:spPr>
          <a:xfrm>
            <a:off x="7909559" y="3840479"/>
            <a:ext cx="2971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候选越多，训练和验证越贵</a:t>
            </a:r>
          </a:p>
        </p:txBody>
      </p:sp>
      <p:sp>
        <p:nvSpPr>
          <p:cNvPr id="544" name="Shape 30"/>
          <p:cNvSpPr/>
          <p:nvPr/>
        </p:nvSpPr>
        <p:spPr>
          <a:xfrm>
            <a:off x="6565392" y="4517135"/>
            <a:ext cx="164593" cy="164593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Text 31"/>
          <p:cNvSpPr txBox="1"/>
          <p:nvPr/>
        </p:nvSpPr>
        <p:spPr>
          <a:xfrm>
            <a:off x="6903719" y="4462271"/>
            <a:ext cx="822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能力边界</a:t>
            </a:r>
          </a:p>
        </p:txBody>
      </p:sp>
      <p:sp>
        <p:nvSpPr>
          <p:cNvPr id="546" name="Text 32"/>
          <p:cNvSpPr txBox="1"/>
          <p:nvPr/>
        </p:nvSpPr>
        <p:spPr>
          <a:xfrm>
            <a:off x="7909559" y="4462271"/>
            <a:ext cx="29718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A9B5C6"/>
                </a:solidFill>
              </a:defRPr>
            </a:lvl1pPr>
          </a:lstStyle>
          <a:p>
            <a:pPr/>
            <a:r>
              <a:t>改代理代码不会自动扩大模型窗口</a:t>
            </a:r>
          </a:p>
        </p:txBody>
      </p:sp>
      <p:sp>
        <p:nvSpPr>
          <p:cNvPr id="547" name="Text 33"/>
          <p:cNvSpPr txBox="1"/>
          <p:nvPr/>
        </p:nvSpPr>
        <p:spPr>
          <a:xfrm>
            <a:off x="1005839" y="6078347"/>
            <a:ext cx="10149842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真正的进步需要：独立评估 + 可追溯版本 + 外部事实 + 人类责任。</a:t>
            </a:r>
          </a:p>
        </p:txBody>
      </p:sp>
      <p:sp>
        <p:nvSpPr>
          <p:cNvPr id="548" name="Text 34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13 · 成本</a:t>
            </a:r>
          </a:p>
        </p:txBody>
      </p:sp>
      <p:sp>
        <p:nvSpPr>
          <p:cNvPr id="553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AI 项目的成本：模型只是账单的一部分</a:t>
            </a:r>
          </a:p>
        </p:txBody>
      </p:sp>
      <p:sp>
        <p:nvSpPr>
          <p:cNvPr id="554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5" name="Text 3"/>
          <p:cNvSpPr txBox="1"/>
          <p:nvPr/>
        </p:nvSpPr>
        <p:spPr>
          <a:xfrm>
            <a:off x="731519" y="1417319"/>
            <a:ext cx="107899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真正的成本来自整条链路：数据、训练、推理、集成、人工复核和错误代价。</a:t>
            </a:r>
          </a:p>
        </p:txBody>
      </p:sp>
      <p:sp>
        <p:nvSpPr>
          <p:cNvPr id="556" name="Text 4"/>
          <p:cNvSpPr txBox="1"/>
          <p:nvPr/>
        </p:nvSpPr>
        <p:spPr>
          <a:xfrm>
            <a:off x="868680" y="2048255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数据</a:t>
            </a:r>
          </a:p>
        </p:txBody>
      </p:sp>
      <p:sp>
        <p:nvSpPr>
          <p:cNvPr id="557" name="Shape 5"/>
          <p:cNvSpPr/>
          <p:nvPr/>
        </p:nvSpPr>
        <p:spPr>
          <a:xfrm>
            <a:off x="1965960" y="1993392"/>
            <a:ext cx="2743201" cy="256033"/>
          </a:xfrm>
          <a:prstGeom prst="roundRect">
            <a:avLst>
              <a:gd name="adj" fmla="val 42857"/>
            </a:avLst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Text 6"/>
          <p:cNvSpPr txBox="1"/>
          <p:nvPr/>
        </p:nvSpPr>
        <p:spPr>
          <a:xfrm>
            <a:off x="5715000" y="2039111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清洗、标注、知识库与更新</a:t>
            </a:r>
          </a:p>
        </p:txBody>
      </p:sp>
      <p:sp>
        <p:nvSpPr>
          <p:cNvPr id="559" name="Text 7"/>
          <p:cNvSpPr txBox="1"/>
          <p:nvPr/>
        </p:nvSpPr>
        <p:spPr>
          <a:xfrm>
            <a:off x="868680" y="2578607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训练 / 微调</a:t>
            </a:r>
          </a:p>
        </p:txBody>
      </p:sp>
      <p:sp>
        <p:nvSpPr>
          <p:cNvPr id="560" name="Shape 8"/>
          <p:cNvSpPr/>
          <p:nvPr/>
        </p:nvSpPr>
        <p:spPr>
          <a:xfrm>
            <a:off x="1965960" y="2523744"/>
            <a:ext cx="2148840" cy="256033"/>
          </a:xfrm>
          <a:prstGeom prst="roundRect">
            <a:avLst>
              <a:gd name="adj" fmla="val 42857"/>
            </a:avLst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Text 9"/>
          <p:cNvSpPr txBox="1"/>
          <p:nvPr/>
        </p:nvSpPr>
        <p:spPr>
          <a:xfrm>
            <a:off x="5715000" y="2569464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一次性或周期性的实验算力</a:t>
            </a:r>
          </a:p>
        </p:txBody>
      </p:sp>
      <p:sp>
        <p:nvSpPr>
          <p:cNvPr id="562" name="Text 10"/>
          <p:cNvSpPr txBox="1"/>
          <p:nvPr/>
        </p:nvSpPr>
        <p:spPr>
          <a:xfrm>
            <a:off x="868680" y="3108960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推理</a:t>
            </a:r>
          </a:p>
        </p:txBody>
      </p:sp>
      <p:sp>
        <p:nvSpPr>
          <p:cNvPr id="563" name="Shape 11"/>
          <p:cNvSpPr/>
          <p:nvPr/>
        </p:nvSpPr>
        <p:spPr>
          <a:xfrm>
            <a:off x="1965960" y="3054095"/>
            <a:ext cx="3429001" cy="256033"/>
          </a:xfrm>
          <a:prstGeom prst="roundRect">
            <a:avLst>
              <a:gd name="adj" fmla="val 4285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12"/>
          <p:cNvSpPr txBox="1"/>
          <p:nvPr/>
        </p:nvSpPr>
        <p:spPr>
          <a:xfrm>
            <a:off x="5715000" y="3099816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输入输出 token、并发、长上下文</a:t>
            </a:r>
          </a:p>
        </p:txBody>
      </p:sp>
      <p:sp>
        <p:nvSpPr>
          <p:cNvPr id="565" name="Text 13"/>
          <p:cNvSpPr txBox="1"/>
          <p:nvPr/>
        </p:nvSpPr>
        <p:spPr>
          <a:xfrm>
            <a:off x="868680" y="3639311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集成治理</a:t>
            </a:r>
          </a:p>
        </p:txBody>
      </p:sp>
      <p:sp>
        <p:nvSpPr>
          <p:cNvPr id="566" name="Shape 14"/>
          <p:cNvSpPr/>
          <p:nvPr/>
        </p:nvSpPr>
        <p:spPr>
          <a:xfrm>
            <a:off x="1965960" y="3584447"/>
            <a:ext cx="2697480" cy="256033"/>
          </a:xfrm>
          <a:prstGeom prst="roundRect">
            <a:avLst>
              <a:gd name="adj" fmla="val 42857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15"/>
          <p:cNvSpPr txBox="1"/>
          <p:nvPr/>
        </p:nvSpPr>
        <p:spPr>
          <a:xfrm>
            <a:off x="5715000" y="3630167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权限、监控、评测、日志和回滚</a:t>
            </a:r>
          </a:p>
        </p:txBody>
      </p:sp>
      <p:sp>
        <p:nvSpPr>
          <p:cNvPr id="568" name="Text 16"/>
          <p:cNvSpPr txBox="1"/>
          <p:nvPr/>
        </p:nvSpPr>
        <p:spPr>
          <a:xfrm>
            <a:off x="868680" y="4169664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人工复核</a:t>
            </a:r>
          </a:p>
        </p:txBody>
      </p:sp>
      <p:sp>
        <p:nvSpPr>
          <p:cNvPr id="569" name="Shape 17"/>
          <p:cNvSpPr/>
          <p:nvPr/>
        </p:nvSpPr>
        <p:spPr>
          <a:xfrm>
            <a:off x="1965960" y="4114800"/>
            <a:ext cx="2240280" cy="256032"/>
          </a:xfrm>
          <a:prstGeom prst="roundRect">
            <a:avLst>
              <a:gd name="adj" fmla="val 42857"/>
            </a:avLst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Text 18"/>
          <p:cNvSpPr txBox="1"/>
          <p:nvPr/>
        </p:nvSpPr>
        <p:spPr>
          <a:xfrm>
            <a:off x="5715000" y="4160520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高风险结果需要人做最后判断</a:t>
            </a:r>
          </a:p>
        </p:txBody>
      </p:sp>
      <p:sp>
        <p:nvSpPr>
          <p:cNvPr id="571" name="Text 19"/>
          <p:cNvSpPr txBox="1"/>
          <p:nvPr/>
        </p:nvSpPr>
        <p:spPr>
          <a:xfrm>
            <a:off x="868680" y="4700015"/>
            <a:ext cx="100584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错误代价</a:t>
            </a:r>
          </a:p>
        </p:txBody>
      </p:sp>
      <p:sp>
        <p:nvSpPr>
          <p:cNvPr id="572" name="Shape 20"/>
          <p:cNvSpPr/>
          <p:nvPr/>
        </p:nvSpPr>
        <p:spPr>
          <a:xfrm>
            <a:off x="1965960" y="4645152"/>
            <a:ext cx="3017521" cy="256033"/>
          </a:xfrm>
          <a:prstGeom prst="roundRect">
            <a:avLst>
              <a:gd name="adj" fmla="val 42857"/>
            </a:avLst>
          </a:prstGeom>
          <a:solidFill>
            <a:srgbClr val="E85D75"/>
          </a:solidFill>
          <a:ln w="12700">
            <a:solidFill>
              <a:srgbClr val="E85D7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3" name="Text 21"/>
          <p:cNvSpPr txBox="1"/>
          <p:nvPr/>
        </p:nvSpPr>
        <p:spPr>
          <a:xfrm>
            <a:off x="5715000" y="4690871"/>
            <a:ext cx="448056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返工、客户损失、合规风险</a:t>
            </a:r>
          </a:p>
        </p:txBody>
      </p:sp>
      <p:sp>
        <p:nvSpPr>
          <p:cNvPr id="574" name="Shape 22"/>
          <p:cNvSpPr/>
          <p:nvPr/>
        </p:nvSpPr>
        <p:spPr>
          <a:xfrm>
            <a:off x="9006840" y="1874520"/>
            <a:ext cx="2240281" cy="3401569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" name="Text 23"/>
          <p:cNvSpPr txBox="1"/>
          <p:nvPr/>
        </p:nvSpPr>
        <p:spPr>
          <a:xfrm>
            <a:off x="9235440" y="2240279"/>
            <a:ext cx="17830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7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先算单位经济性</a:t>
            </a:r>
          </a:p>
        </p:txBody>
      </p:sp>
      <p:sp>
        <p:nvSpPr>
          <p:cNvPr id="576" name="Text 24"/>
          <p:cNvSpPr txBox="1"/>
          <p:nvPr/>
        </p:nvSpPr>
        <p:spPr>
          <a:xfrm>
            <a:off x="9308592" y="3017520"/>
            <a:ext cx="1600201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4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每次调用成本</a:t>
            </a:r>
          </a:p>
          <a:p>
            <a:pPr algn="ctr">
              <a:defRPr sz="14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× 调用次数</a:t>
            </a:r>
          </a:p>
          <a:p>
            <a:pPr algn="ctr">
              <a:defRPr sz="14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+ 集成与复核</a:t>
            </a:r>
          </a:p>
          <a:p>
            <a:pPr algn="ctr">
              <a:defRPr sz="14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+ 错误代价</a:t>
            </a:r>
          </a:p>
        </p:txBody>
      </p:sp>
      <p:sp>
        <p:nvSpPr>
          <p:cNvPr id="577" name="Text 25"/>
          <p:cNvSpPr txBox="1"/>
          <p:nvPr/>
        </p:nvSpPr>
        <p:spPr>
          <a:xfrm>
            <a:off x="9235440" y="4736591"/>
            <a:ext cx="17830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再决定是否扩大调用量。</a:t>
            </a:r>
          </a:p>
        </p:txBody>
      </p:sp>
      <p:sp>
        <p:nvSpPr>
          <p:cNvPr id="578" name="Text 26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14 · 场景选择</a:t>
            </a:r>
          </a:p>
        </p:txBody>
      </p:sp>
      <p:sp>
        <p:nvSpPr>
          <p:cNvPr id="583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企业选场景：先看重复度，再看可控性</a:t>
            </a:r>
          </a:p>
        </p:txBody>
      </p:sp>
      <p:sp>
        <p:nvSpPr>
          <p:cNvPr id="584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Text 3"/>
          <p:cNvSpPr txBox="1"/>
          <p:nvPr/>
        </p:nvSpPr>
        <p:spPr>
          <a:xfrm>
            <a:off x="731519" y="1417319"/>
            <a:ext cx="7315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优先选择高频、可量化、可复核、数据已经存在的任务。</a:t>
            </a:r>
          </a:p>
        </p:txBody>
      </p:sp>
      <p:sp>
        <p:nvSpPr>
          <p:cNvPr id="586" name="Shape 4"/>
          <p:cNvSpPr/>
          <p:nvPr/>
        </p:nvSpPr>
        <p:spPr>
          <a:xfrm>
            <a:off x="1691639" y="1965959"/>
            <a:ext cx="8183882" cy="3246122"/>
          </a:xfrm>
          <a:prstGeom prst="rect">
            <a:avLst/>
          </a:prstGeom>
          <a:solidFill>
            <a:srgbClr val="FFFFFF"/>
          </a:solidFill>
          <a:ln w="1524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Shape 5"/>
          <p:cNvSpPr/>
          <p:nvPr/>
        </p:nvSpPr>
        <p:spPr>
          <a:xfrm>
            <a:off x="5783579" y="1965960"/>
            <a:ext cx="4091941" cy="1623061"/>
          </a:xfrm>
          <a:prstGeom prst="rect">
            <a:avLst/>
          </a:prstGeom>
          <a:solidFill>
            <a:srgbClr val="E8FFF5">
              <a:alpha val="95000"/>
            </a:srgbClr>
          </a:solidFill>
          <a:ln w="12700">
            <a:solidFill>
              <a:srgbClr val="E8FFF5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8" name="Shape 6"/>
          <p:cNvSpPr/>
          <p:nvPr/>
        </p:nvSpPr>
        <p:spPr>
          <a:xfrm>
            <a:off x="1691639" y="3589020"/>
            <a:ext cx="4091942" cy="1623061"/>
          </a:xfrm>
          <a:prstGeom prst="rect">
            <a:avLst/>
          </a:prstGeom>
          <a:solidFill>
            <a:srgbClr val="FFF6DD">
              <a:alpha val="94000"/>
            </a:srgbClr>
          </a:solidFill>
          <a:ln w="12700">
            <a:solidFill>
              <a:srgbClr val="FFF6DD">
                <a:alpha val="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9" name="Shape 7"/>
          <p:cNvSpPr/>
          <p:nvPr/>
        </p:nvSpPr>
        <p:spPr>
          <a:xfrm flipH="1">
            <a:off x="5783579" y="1965959"/>
            <a:ext cx="1" cy="3246122"/>
          </a:xfrm>
          <a:prstGeom prst="line">
            <a:avLst/>
          </a:prstGeom>
          <a:ln w="1397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Shape 8"/>
          <p:cNvSpPr/>
          <p:nvPr/>
        </p:nvSpPr>
        <p:spPr>
          <a:xfrm>
            <a:off x="1691639" y="3589020"/>
            <a:ext cx="8183881" cy="1"/>
          </a:xfrm>
          <a:prstGeom prst="line">
            <a:avLst/>
          </a:prstGeom>
          <a:ln w="1397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1" name="Text 9"/>
          <p:cNvSpPr txBox="1"/>
          <p:nvPr/>
        </p:nvSpPr>
        <p:spPr>
          <a:xfrm>
            <a:off x="8412480" y="5394959"/>
            <a:ext cx="1417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r">
              <a:defRPr sz="12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重复度高 →</a:t>
            </a:r>
          </a:p>
        </p:txBody>
      </p:sp>
      <p:sp>
        <p:nvSpPr>
          <p:cNvPr id="592" name="Text 10"/>
          <p:cNvSpPr txBox="1"/>
          <p:nvPr/>
        </p:nvSpPr>
        <p:spPr>
          <a:xfrm>
            <a:off x="548640" y="2011679"/>
            <a:ext cx="914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可控性高 ↑</a:t>
            </a:r>
          </a:p>
        </p:txBody>
      </p:sp>
      <p:sp>
        <p:nvSpPr>
          <p:cNvPr id="593" name="Text 11"/>
          <p:cNvSpPr txBox="1"/>
          <p:nvPr/>
        </p:nvSpPr>
        <p:spPr>
          <a:xfrm>
            <a:off x="6172200" y="2167127"/>
            <a:ext cx="22860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5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绿区：可以自动化</a:t>
            </a:r>
          </a:p>
        </p:txBody>
      </p:sp>
      <p:sp>
        <p:nvSpPr>
          <p:cNvPr id="594" name="Text 12"/>
          <p:cNvSpPr txBox="1"/>
          <p:nvPr/>
        </p:nvSpPr>
        <p:spPr>
          <a:xfrm>
            <a:off x="2194559" y="4663440"/>
            <a:ext cx="24688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C857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黄区：AI 做副驾驶</a:t>
            </a:r>
          </a:p>
        </p:txBody>
      </p:sp>
      <p:sp>
        <p:nvSpPr>
          <p:cNvPr id="595" name="Text 13"/>
          <p:cNvSpPr txBox="1"/>
          <p:nvPr/>
        </p:nvSpPr>
        <p:spPr>
          <a:xfrm>
            <a:off x="6263640" y="3794759"/>
            <a:ext cx="2651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400">
                <a:solidFill>
                  <a:srgbClr val="FF7A5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红区：人做最终决定</a:t>
            </a:r>
          </a:p>
        </p:txBody>
      </p:sp>
      <p:sp>
        <p:nvSpPr>
          <p:cNvPr id="596" name="Shape 14"/>
          <p:cNvSpPr/>
          <p:nvPr/>
        </p:nvSpPr>
        <p:spPr>
          <a:xfrm>
            <a:off x="6400800" y="2560320"/>
            <a:ext cx="1143000" cy="283465"/>
          </a:xfrm>
          <a:prstGeom prst="roundRect">
            <a:avLst>
              <a:gd name="adj" fmla="val 48387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7" name="Text 15"/>
          <p:cNvSpPr txBox="1"/>
          <p:nvPr/>
        </p:nvSpPr>
        <p:spPr>
          <a:xfrm>
            <a:off x="6400800" y="2606039"/>
            <a:ext cx="11430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客服草稿</a:t>
            </a:r>
          </a:p>
        </p:txBody>
      </p:sp>
      <p:sp>
        <p:nvSpPr>
          <p:cNvPr id="598" name="Shape 16"/>
          <p:cNvSpPr/>
          <p:nvPr/>
        </p:nvSpPr>
        <p:spPr>
          <a:xfrm>
            <a:off x="7909559" y="2834639"/>
            <a:ext cx="1143001" cy="283465"/>
          </a:xfrm>
          <a:prstGeom prst="roundRect">
            <a:avLst>
              <a:gd name="adj" fmla="val 48387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9" name="Text 17"/>
          <p:cNvSpPr txBox="1"/>
          <p:nvPr/>
        </p:nvSpPr>
        <p:spPr>
          <a:xfrm>
            <a:off x="7909559" y="2880360"/>
            <a:ext cx="1143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报表摘要</a:t>
            </a:r>
          </a:p>
        </p:txBody>
      </p:sp>
      <p:sp>
        <p:nvSpPr>
          <p:cNvPr id="600" name="Shape 18"/>
          <p:cNvSpPr/>
          <p:nvPr/>
        </p:nvSpPr>
        <p:spPr>
          <a:xfrm>
            <a:off x="5715000" y="2971800"/>
            <a:ext cx="1143000" cy="283464"/>
          </a:xfrm>
          <a:prstGeom prst="roundRect">
            <a:avLst>
              <a:gd name="adj" fmla="val 48387"/>
            </a:avLst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1" name="Text 19"/>
          <p:cNvSpPr txBox="1"/>
          <p:nvPr/>
        </p:nvSpPr>
        <p:spPr>
          <a:xfrm>
            <a:off x="5715000" y="3017520"/>
            <a:ext cx="11430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知识问答</a:t>
            </a:r>
          </a:p>
        </p:txBody>
      </p:sp>
      <p:sp>
        <p:nvSpPr>
          <p:cNvPr id="602" name="Shape 20"/>
          <p:cNvSpPr/>
          <p:nvPr/>
        </p:nvSpPr>
        <p:spPr>
          <a:xfrm>
            <a:off x="2423160" y="3794759"/>
            <a:ext cx="1143001" cy="283465"/>
          </a:xfrm>
          <a:prstGeom prst="roundRect">
            <a:avLst>
              <a:gd name="adj" fmla="val 48387"/>
            </a:avLst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3" name="Text 21"/>
          <p:cNvSpPr txBox="1"/>
          <p:nvPr/>
        </p:nvSpPr>
        <p:spPr>
          <a:xfrm>
            <a:off x="2423160" y="3840479"/>
            <a:ext cx="1143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采购预测</a:t>
            </a:r>
          </a:p>
        </p:txBody>
      </p:sp>
      <p:sp>
        <p:nvSpPr>
          <p:cNvPr id="604" name="Shape 22"/>
          <p:cNvSpPr/>
          <p:nvPr/>
        </p:nvSpPr>
        <p:spPr>
          <a:xfrm>
            <a:off x="4069079" y="4224528"/>
            <a:ext cx="1143001" cy="283465"/>
          </a:xfrm>
          <a:prstGeom prst="roundRect">
            <a:avLst>
              <a:gd name="adj" fmla="val 48387"/>
            </a:avLst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5" name="Text 23"/>
          <p:cNvSpPr txBox="1"/>
          <p:nvPr/>
        </p:nvSpPr>
        <p:spPr>
          <a:xfrm>
            <a:off x="4069079" y="4270247"/>
            <a:ext cx="1143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质检初筛</a:t>
            </a:r>
          </a:p>
        </p:txBody>
      </p:sp>
      <p:sp>
        <p:nvSpPr>
          <p:cNvPr id="606" name="Shape 24"/>
          <p:cNvSpPr/>
          <p:nvPr/>
        </p:nvSpPr>
        <p:spPr>
          <a:xfrm>
            <a:off x="7863840" y="4343400"/>
            <a:ext cx="1143001" cy="283464"/>
          </a:xfrm>
          <a:prstGeom prst="roundRect">
            <a:avLst>
              <a:gd name="adj" fmla="val 4838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7" name="Text 25"/>
          <p:cNvSpPr txBox="1"/>
          <p:nvPr/>
        </p:nvSpPr>
        <p:spPr>
          <a:xfrm>
            <a:off x="7863840" y="4389120"/>
            <a:ext cx="1143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财务审批</a:t>
            </a:r>
          </a:p>
        </p:txBody>
      </p:sp>
      <p:sp>
        <p:nvSpPr>
          <p:cNvPr id="608" name="Shape 26"/>
          <p:cNvSpPr/>
          <p:nvPr/>
        </p:nvSpPr>
        <p:spPr>
          <a:xfrm>
            <a:off x="6080759" y="4709159"/>
            <a:ext cx="1143001" cy="283465"/>
          </a:xfrm>
          <a:prstGeom prst="roundRect">
            <a:avLst>
              <a:gd name="adj" fmla="val 48387"/>
            </a:avLst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9" name="Text 27"/>
          <p:cNvSpPr txBox="1"/>
          <p:nvPr/>
        </p:nvSpPr>
        <p:spPr>
          <a:xfrm>
            <a:off x="6080759" y="4754879"/>
            <a:ext cx="1143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对外承诺</a:t>
            </a:r>
          </a:p>
        </p:txBody>
      </p:sp>
      <p:sp>
        <p:nvSpPr>
          <p:cNvPr id="610" name="Text 28"/>
          <p:cNvSpPr txBox="1"/>
          <p:nvPr/>
        </p:nvSpPr>
        <p:spPr>
          <a:xfrm>
            <a:off x="1920239" y="5760720"/>
            <a:ext cx="80924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先让 AI 做副驾驶，再根据评测结果逐步放权。</a:t>
            </a:r>
          </a:p>
        </p:txBody>
      </p:sp>
      <p:sp>
        <p:nvSpPr>
          <p:cNvPr id="611" name="Text 29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E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15 · 企业落地</a:t>
            </a:r>
          </a:p>
        </p:txBody>
      </p:sp>
      <p:sp>
        <p:nvSpPr>
          <p:cNvPr id="616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落地路线：先做副驾驶，再做流程，再做系统</a:t>
            </a:r>
          </a:p>
        </p:txBody>
      </p:sp>
      <p:sp>
        <p:nvSpPr>
          <p:cNvPr id="617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Text 3"/>
          <p:cNvSpPr txBox="1"/>
          <p:nvPr/>
        </p:nvSpPr>
        <p:spPr>
          <a:xfrm>
            <a:off x="731519" y="1417319"/>
            <a:ext cx="107899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每一步都要有基线、有评测、有回滚，不要一开始就追求全自动。</a:t>
            </a:r>
          </a:p>
        </p:txBody>
      </p:sp>
      <p:sp>
        <p:nvSpPr>
          <p:cNvPr id="619" name="Shape 4"/>
          <p:cNvSpPr/>
          <p:nvPr/>
        </p:nvSpPr>
        <p:spPr>
          <a:xfrm>
            <a:off x="868680" y="4297679"/>
            <a:ext cx="2834640" cy="822961"/>
          </a:xfrm>
          <a:prstGeom prst="roundRect">
            <a:avLst>
              <a:gd name="adj" fmla="val 13333"/>
            </a:avLst>
          </a:prstGeom>
          <a:solidFill>
            <a:srgbClr val="6EE7F9"/>
          </a:solidFill>
          <a:ln w="1397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Text 5"/>
          <p:cNvSpPr txBox="1"/>
          <p:nvPr/>
        </p:nvSpPr>
        <p:spPr>
          <a:xfrm>
            <a:off x="1097280" y="4498847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21" name="Text 6"/>
          <p:cNvSpPr txBox="1"/>
          <p:nvPr/>
        </p:nvSpPr>
        <p:spPr>
          <a:xfrm>
            <a:off x="1709927" y="4480559"/>
            <a:ext cx="15087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50391">
              <a:defRPr sz="186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副驾驶</a:t>
            </a:r>
          </a:p>
        </p:txBody>
      </p:sp>
      <p:sp>
        <p:nvSpPr>
          <p:cNvPr id="622" name="Text 7"/>
          <p:cNvSpPr txBox="1"/>
          <p:nvPr/>
        </p:nvSpPr>
        <p:spPr>
          <a:xfrm>
            <a:off x="1143000" y="4919471"/>
            <a:ext cx="228600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写草稿、查资料、做摘要</a:t>
            </a:r>
          </a:p>
        </p:txBody>
      </p:sp>
      <p:sp>
        <p:nvSpPr>
          <p:cNvPr id="623" name="Shape 8"/>
          <p:cNvSpPr/>
          <p:nvPr/>
        </p:nvSpPr>
        <p:spPr>
          <a:xfrm>
            <a:off x="3977640" y="3429000"/>
            <a:ext cx="2834641" cy="1691640"/>
          </a:xfrm>
          <a:prstGeom prst="roundRect">
            <a:avLst>
              <a:gd name="adj" fmla="val 6486"/>
            </a:avLst>
          </a:prstGeom>
          <a:solidFill>
            <a:srgbClr val="1B998B"/>
          </a:solidFill>
          <a:ln w="1397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Text 9"/>
          <p:cNvSpPr txBox="1"/>
          <p:nvPr/>
        </p:nvSpPr>
        <p:spPr>
          <a:xfrm>
            <a:off x="4206240" y="3630167"/>
            <a:ext cx="50292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25" name="Text 10"/>
          <p:cNvSpPr txBox="1"/>
          <p:nvPr/>
        </p:nvSpPr>
        <p:spPr>
          <a:xfrm>
            <a:off x="4818888" y="3611879"/>
            <a:ext cx="1508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50391">
              <a:defRPr sz="186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流程</a:t>
            </a:r>
          </a:p>
        </p:txBody>
      </p:sp>
      <p:sp>
        <p:nvSpPr>
          <p:cNvPr id="626" name="Text 11"/>
          <p:cNvSpPr txBox="1"/>
          <p:nvPr/>
        </p:nvSpPr>
        <p:spPr>
          <a:xfrm>
            <a:off x="4251959" y="4050791"/>
            <a:ext cx="2286001" cy="1051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自动分派、校验、提醒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人保留关键节点</a:t>
            </a:r>
          </a:p>
        </p:txBody>
      </p:sp>
      <p:sp>
        <p:nvSpPr>
          <p:cNvPr id="627" name="Shape 12"/>
          <p:cNvSpPr/>
          <p:nvPr/>
        </p:nvSpPr>
        <p:spPr>
          <a:xfrm>
            <a:off x="7086600" y="2514600"/>
            <a:ext cx="2834640" cy="2606040"/>
          </a:xfrm>
          <a:prstGeom prst="roundRect">
            <a:avLst>
              <a:gd name="adj" fmla="val 4211"/>
            </a:avLst>
          </a:prstGeom>
          <a:solidFill>
            <a:srgbClr val="1A2454"/>
          </a:solidFill>
          <a:ln w="1397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8" name="Text 13"/>
          <p:cNvSpPr txBox="1"/>
          <p:nvPr/>
        </p:nvSpPr>
        <p:spPr>
          <a:xfrm>
            <a:off x="7315199" y="2715767"/>
            <a:ext cx="5029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5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29" name="Text 14"/>
          <p:cNvSpPr txBox="1"/>
          <p:nvPr/>
        </p:nvSpPr>
        <p:spPr>
          <a:xfrm>
            <a:off x="7927847" y="2697479"/>
            <a:ext cx="1508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50391">
              <a:defRPr sz="186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系统</a:t>
            </a:r>
          </a:p>
        </p:txBody>
      </p:sp>
      <p:sp>
        <p:nvSpPr>
          <p:cNvPr id="630" name="Text 15"/>
          <p:cNvSpPr txBox="1"/>
          <p:nvPr/>
        </p:nvSpPr>
        <p:spPr>
          <a:xfrm>
            <a:off x="7360919" y="3136392"/>
            <a:ext cx="2286001" cy="196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接入业务系统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按权限行动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持续评测与审计</a:t>
            </a:r>
          </a:p>
        </p:txBody>
      </p:sp>
      <p:sp>
        <p:nvSpPr>
          <p:cNvPr id="631" name="Shape 16"/>
          <p:cNvSpPr/>
          <p:nvPr/>
        </p:nvSpPr>
        <p:spPr>
          <a:xfrm>
            <a:off x="1005839" y="5468111"/>
            <a:ext cx="8778242" cy="1"/>
          </a:xfrm>
          <a:prstGeom prst="line">
            <a:avLst/>
          </a:prstGeom>
          <a:ln w="15240">
            <a:solidFill>
              <a:srgbClr val="D6E2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2" name="Shape 17"/>
          <p:cNvSpPr/>
          <p:nvPr/>
        </p:nvSpPr>
        <p:spPr>
          <a:xfrm>
            <a:off x="1024127" y="5733288"/>
            <a:ext cx="146305" cy="146305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3" name="Text 18"/>
          <p:cNvSpPr txBox="1"/>
          <p:nvPr/>
        </p:nvSpPr>
        <p:spPr>
          <a:xfrm>
            <a:off x="1252727" y="5669279"/>
            <a:ext cx="914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基线 KPI</a:t>
            </a:r>
          </a:p>
        </p:txBody>
      </p:sp>
      <p:sp>
        <p:nvSpPr>
          <p:cNvPr id="634" name="Shape 19"/>
          <p:cNvSpPr/>
          <p:nvPr/>
        </p:nvSpPr>
        <p:spPr>
          <a:xfrm>
            <a:off x="3172967" y="5733288"/>
            <a:ext cx="146305" cy="146305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5" name="Text 20"/>
          <p:cNvSpPr txBox="1"/>
          <p:nvPr/>
        </p:nvSpPr>
        <p:spPr>
          <a:xfrm>
            <a:off x="3401567" y="5669279"/>
            <a:ext cx="914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可信数据</a:t>
            </a:r>
          </a:p>
        </p:txBody>
      </p:sp>
      <p:sp>
        <p:nvSpPr>
          <p:cNvPr id="636" name="Shape 21"/>
          <p:cNvSpPr/>
          <p:nvPr/>
        </p:nvSpPr>
        <p:spPr>
          <a:xfrm>
            <a:off x="5321808" y="5733288"/>
            <a:ext cx="146305" cy="146305"/>
          </a:xfrm>
          <a:prstGeom prst="ellipse">
            <a:avLst/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7" name="Text 22"/>
          <p:cNvSpPr txBox="1"/>
          <p:nvPr/>
        </p:nvSpPr>
        <p:spPr>
          <a:xfrm>
            <a:off x="5550408" y="5669279"/>
            <a:ext cx="914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离线评测</a:t>
            </a:r>
          </a:p>
        </p:txBody>
      </p:sp>
      <p:sp>
        <p:nvSpPr>
          <p:cNvPr id="638" name="Shape 23"/>
          <p:cNvSpPr/>
          <p:nvPr/>
        </p:nvSpPr>
        <p:spPr>
          <a:xfrm>
            <a:off x="7470647" y="5733288"/>
            <a:ext cx="146305" cy="146305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9" name="Text 24"/>
          <p:cNvSpPr txBox="1"/>
          <p:nvPr/>
        </p:nvSpPr>
        <p:spPr>
          <a:xfrm>
            <a:off x="7699247" y="5669279"/>
            <a:ext cx="914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小流量</a:t>
            </a:r>
          </a:p>
        </p:txBody>
      </p:sp>
      <p:sp>
        <p:nvSpPr>
          <p:cNvPr id="640" name="Shape 25"/>
          <p:cNvSpPr/>
          <p:nvPr/>
        </p:nvSpPr>
        <p:spPr>
          <a:xfrm>
            <a:off x="9619488" y="5733288"/>
            <a:ext cx="146305" cy="146305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1" name="Text 26"/>
          <p:cNvSpPr txBox="1"/>
          <p:nvPr/>
        </p:nvSpPr>
        <p:spPr>
          <a:xfrm>
            <a:off x="9848088" y="5669279"/>
            <a:ext cx="9144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复盘</a:t>
            </a:r>
          </a:p>
        </p:txBody>
      </p:sp>
      <p:sp>
        <p:nvSpPr>
          <p:cNvPr id="642" name="Text 27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 0"/>
          <p:cNvSpPr txBox="1"/>
          <p:nvPr/>
        </p:nvSpPr>
        <p:spPr>
          <a:xfrm>
            <a:off x="594359" y="334264"/>
            <a:ext cx="5943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0" sz="1000">
                <a:solidFill>
                  <a:srgbClr val="1B998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16 · 管理清单</a:t>
            </a:r>
          </a:p>
        </p:txBody>
      </p:sp>
      <p:sp>
        <p:nvSpPr>
          <p:cNvPr id="647" name="Text 1"/>
          <p:cNvSpPr txBox="1"/>
          <p:nvPr/>
        </p:nvSpPr>
        <p:spPr>
          <a:xfrm>
            <a:off x="594359" y="585216"/>
            <a:ext cx="10972801" cy="49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2600">
                <a:solidFill>
                  <a:srgbClr val="10212B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把原理变成管理动作：六个问题决定成败</a:t>
            </a:r>
          </a:p>
        </p:txBody>
      </p:sp>
      <p:sp>
        <p:nvSpPr>
          <p:cNvPr id="648" name="Shape 2"/>
          <p:cNvSpPr/>
          <p:nvPr/>
        </p:nvSpPr>
        <p:spPr>
          <a:xfrm>
            <a:off x="594359" y="1188719"/>
            <a:ext cx="1051561" cy="1"/>
          </a:xfrm>
          <a:prstGeom prst="line">
            <a:avLst/>
          </a:prstGeom>
          <a:ln w="3556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9" name="Shape 3"/>
          <p:cNvSpPr/>
          <p:nvPr/>
        </p:nvSpPr>
        <p:spPr>
          <a:xfrm>
            <a:off x="914400" y="1828800"/>
            <a:ext cx="2971800" cy="105156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6EE7F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0" name="Shape 4"/>
          <p:cNvSpPr/>
          <p:nvPr/>
        </p:nvSpPr>
        <p:spPr>
          <a:xfrm>
            <a:off x="1170432" y="2121407"/>
            <a:ext cx="384049" cy="384049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1" name="Text 5"/>
          <p:cNvSpPr txBox="1"/>
          <p:nvPr/>
        </p:nvSpPr>
        <p:spPr>
          <a:xfrm>
            <a:off x="1170432" y="2194560"/>
            <a:ext cx="3840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2" name="Text 6"/>
          <p:cNvSpPr txBox="1"/>
          <p:nvPr/>
        </p:nvSpPr>
        <p:spPr>
          <a:xfrm>
            <a:off x="1737360" y="2011679"/>
            <a:ext cx="1554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选场景</a:t>
            </a:r>
          </a:p>
        </p:txBody>
      </p:sp>
      <p:sp>
        <p:nvSpPr>
          <p:cNvPr id="653" name="Text 7"/>
          <p:cNvSpPr txBox="1"/>
          <p:nvPr/>
        </p:nvSpPr>
        <p:spPr>
          <a:xfrm>
            <a:off x="1737360" y="2395727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哪里最重复？</a:t>
            </a:r>
          </a:p>
        </p:txBody>
      </p:sp>
      <p:sp>
        <p:nvSpPr>
          <p:cNvPr id="654" name="Shape 8"/>
          <p:cNvSpPr/>
          <p:nvPr/>
        </p:nvSpPr>
        <p:spPr>
          <a:xfrm>
            <a:off x="4617720" y="1828800"/>
            <a:ext cx="2971801" cy="105156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B998B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5" name="Shape 9"/>
          <p:cNvSpPr/>
          <p:nvPr/>
        </p:nvSpPr>
        <p:spPr>
          <a:xfrm>
            <a:off x="4873752" y="2121407"/>
            <a:ext cx="384049" cy="384049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Text 10"/>
          <p:cNvSpPr txBox="1"/>
          <p:nvPr/>
        </p:nvSpPr>
        <p:spPr>
          <a:xfrm>
            <a:off x="4873752" y="2194560"/>
            <a:ext cx="3840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7" name="Text 11"/>
          <p:cNvSpPr txBox="1"/>
          <p:nvPr/>
        </p:nvSpPr>
        <p:spPr>
          <a:xfrm>
            <a:off x="5440679" y="2011679"/>
            <a:ext cx="1554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给数据</a:t>
            </a:r>
          </a:p>
        </p:txBody>
      </p:sp>
      <p:sp>
        <p:nvSpPr>
          <p:cNvPr id="658" name="Text 12"/>
          <p:cNvSpPr txBox="1"/>
          <p:nvPr/>
        </p:nvSpPr>
        <p:spPr>
          <a:xfrm>
            <a:off x="5440679" y="2395727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它凭什么知道？</a:t>
            </a:r>
          </a:p>
        </p:txBody>
      </p:sp>
      <p:sp>
        <p:nvSpPr>
          <p:cNvPr id="659" name="Shape 13"/>
          <p:cNvSpPr/>
          <p:nvPr/>
        </p:nvSpPr>
        <p:spPr>
          <a:xfrm>
            <a:off x="8321040" y="1828800"/>
            <a:ext cx="2971801" cy="105156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FC857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" name="Shape 14"/>
          <p:cNvSpPr/>
          <p:nvPr/>
        </p:nvSpPr>
        <p:spPr>
          <a:xfrm>
            <a:off x="8577071" y="2121407"/>
            <a:ext cx="384049" cy="384049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1" name="Text 15"/>
          <p:cNvSpPr txBox="1"/>
          <p:nvPr/>
        </p:nvSpPr>
        <p:spPr>
          <a:xfrm>
            <a:off x="8577071" y="2194560"/>
            <a:ext cx="3840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62" name="Text 16"/>
          <p:cNvSpPr txBox="1"/>
          <p:nvPr/>
        </p:nvSpPr>
        <p:spPr>
          <a:xfrm>
            <a:off x="9143999" y="2011679"/>
            <a:ext cx="1554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设护栏</a:t>
            </a:r>
          </a:p>
        </p:txBody>
      </p:sp>
      <p:sp>
        <p:nvSpPr>
          <p:cNvPr id="663" name="Text 17"/>
          <p:cNvSpPr txBox="1"/>
          <p:nvPr/>
        </p:nvSpPr>
        <p:spPr>
          <a:xfrm>
            <a:off x="9143999" y="2395727"/>
            <a:ext cx="17373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哪些事不能做？</a:t>
            </a:r>
          </a:p>
        </p:txBody>
      </p:sp>
      <p:sp>
        <p:nvSpPr>
          <p:cNvPr id="664" name="Shape 18"/>
          <p:cNvSpPr/>
          <p:nvPr/>
        </p:nvSpPr>
        <p:spPr>
          <a:xfrm>
            <a:off x="914400" y="3337559"/>
            <a:ext cx="2971800" cy="105156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F7A5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5" name="Shape 19"/>
          <p:cNvSpPr/>
          <p:nvPr/>
        </p:nvSpPr>
        <p:spPr>
          <a:xfrm>
            <a:off x="1170432" y="3630167"/>
            <a:ext cx="384049" cy="384049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Text 20"/>
          <p:cNvSpPr txBox="1"/>
          <p:nvPr/>
        </p:nvSpPr>
        <p:spPr>
          <a:xfrm>
            <a:off x="1170432" y="3703320"/>
            <a:ext cx="3840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67" name="Text 21"/>
          <p:cNvSpPr txBox="1"/>
          <p:nvPr/>
        </p:nvSpPr>
        <p:spPr>
          <a:xfrm>
            <a:off x="1737360" y="3520440"/>
            <a:ext cx="1554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算 ROI</a:t>
            </a:r>
          </a:p>
        </p:txBody>
      </p:sp>
      <p:sp>
        <p:nvSpPr>
          <p:cNvPr id="668" name="Text 22"/>
          <p:cNvSpPr txBox="1"/>
          <p:nvPr/>
        </p:nvSpPr>
        <p:spPr>
          <a:xfrm>
            <a:off x="1737360" y="3904488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省下的钱够不够？</a:t>
            </a:r>
          </a:p>
        </p:txBody>
      </p:sp>
      <p:sp>
        <p:nvSpPr>
          <p:cNvPr id="669" name="Shape 23"/>
          <p:cNvSpPr/>
          <p:nvPr/>
        </p:nvSpPr>
        <p:spPr>
          <a:xfrm>
            <a:off x="4617720" y="3337559"/>
            <a:ext cx="2971801" cy="105156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A2454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Shape 24"/>
          <p:cNvSpPr/>
          <p:nvPr/>
        </p:nvSpPr>
        <p:spPr>
          <a:xfrm>
            <a:off x="4873752" y="3630167"/>
            <a:ext cx="384049" cy="384049"/>
          </a:xfrm>
          <a:prstGeom prst="ellipse">
            <a:avLst/>
          </a:prstGeom>
          <a:solidFill>
            <a:srgbClr val="1A2454"/>
          </a:solidFill>
          <a:ln w="12700">
            <a:solidFill>
              <a:srgbClr val="1A24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1" name="Text 25"/>
          <p:cNvSpPr txBox="1"/>
          <p:nvPr/>
        </p:nvSpPr>
        <p:spPr>
          <a:xfrm>
            <a:off x="4873752" y="3703320"/>
            <a:ext cx="3840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72" name="Text 26"/>
          <p:cNvSpPr txBox="1"/>
          <p:nvPr/>
        </p:nvSpPr>
        <p:spPr>
          <a:xfrm>
            <a:off x="5440679" y="3520440"/>
            <a:ext cx="1554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留人工</a:t>
            </a:r>
          </a:p>
        </p:txBody>
      </p:sp>
      <p:sp>
        <p:nvSpPr>
          <p:cNvPr id="673" name="Text 27"/>
          <p:cNvSpPr txBox="1"/>
          <p:nvPr/>
        </p:nvSpPr>
        <p:spPr>
          <a:xfrm>
            <a:off x="5440679" y="3904488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错了谁发现？</a:t>
            </a:r>
          </a:p>
        </p:txBody>
      </p:sp>
      <p:sp>
        <p:nvSpPr>
          <p:cNvPr id="674" name="Shape 28"/>
          <p:cNvSpPr/>
          <p:nvPr/>
        </p:nvSpPr>
        <p:spPr>
          <a:xfrm>
            <a:off x="8321040" y="3337559"/>
            <a:ext cx="2971801" cy="105156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sx="100000" sy="100000" kx="0" ky="0" algn="b" rotWithShape="0" blurRad="12700" dist="50800" dir="2700000">
              <a:srgbClr val="7D8A91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" name="Shape 29"/>
          <p:cNvSpPr/>
          <p:nvPr/>
        </p:nvSpPr>
        <p:spPr>
          <a:xfrm>
            <a:off x="8577071" y="3630167"/>
            <a:ext cx="384049" cy="384049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Text 30"/>
          <p:cNvSpPr txBox="1"/>
          <p:nvPr/>
        </p:nvSpPr>
        <p:spPr>
          <a:xfrm>
            <a:off x="8577071" y="3703320"/>
            <a:ext cx="38404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77" name="Text 31"/>
          <p:cNvSpPr txBox="1"/>
          <p:nvPr/>
        </p:nvSpPr>
        <p:spPr>
          <a:xfrm>
            <a:off x="9143999" y="3520440"/>
            <a:ext cx="1554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复盘</a:t>
            </a:r>
          </a:p>
        </p:txBody>
      </p:sp>
      <p:sp>
        <p:nvSpPr>
          <p:cNvPr id="678" name="Text 32"/>
          <p:cNvSpPr txBox="1"/>
          <p:nvPr/>
        </p:nvSpPr>
        <p:spPr>
          <a:xfrm>
            <a:off x="9143999" y="3904488"/>
            <a:ext cx="17373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637381"/>
                </a:solidFill>
              </a:defRPr>
            </a:lvl1pPr>
          </a:lstStyle>
          <a:p>
            <a:pPr/>
            <a:r>
              <a:t>数据如何变好？</a:t>
            </a:r>
          </a:p>
        </p:txBody>
      </p:sp>
      <p:sp>
        <p:nvSpPr>
          <p:cNvPr id="679" name="Text 33"/>
          <p:cNvSpPr txBox="1"/>
          <p:nvPr/>
        </p:nvSpPr>
        <p:spPr>
          <a:xfrm>
            <a:off x="1188719" y="5669279"/>
            <a:ext cx="969264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600">
                <a:solidFill>
                  <a:srgbClr val="1A2454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把“理解原理”翻译成流程：每个 AI 项目都要能回答这六个问题。</a:t>
            </a:r>
          </a:p>
        </p:txBody>
      </p:sp>
      <p:sp>
        <p:nvSpPr>
          <p:cNvPr id="680" name="Text 34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37381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 0"/>
          <p:cNvSpPr txBox="1"/>
          <p:nvPr/>
        </p:nvSpPr>
        <p:spPr>
          <a:xfrm>
            <a:off x="731520" y="1051560"/>
            <a:ext cx="5669280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34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把 AI 放在</a:t>
            </a:r>
          </a:p>
          <a:p>
            <a:pPr>
              <a:defRPr sz="34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pPr>
            <a:r>
              <a:t>可验证的工位</a:t>
            </a:r>
          </a:p>
        </p:txBody>
      </p:sp>
      <p:sp>
        <p:nvSpPr>
          <p:cNvPr id="685" name="Text 1"/>
          <p:cNvSpPr txBox="1"/>
          <p:nvPr/>
        </p:nvSpPr>
        <p:spPr>
          <a:xfrm>
            <a:off x="758951" y="2967228"/>
            <a:ext cx="54864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34D399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懂原理 → 会评估 → 设边界 → 再逐步放权</a:t>
            </a:r>
          </a:p>
        </p:txBody>
      </p:sp>
      <p:sp>
        <p:nvSpPr>
          <p:cNvPr id="686" name="Shape 2"/>
          <p:cNvSpPr/>
          <p:nvPr/>
        </p:nvSpPr>
        <p:spPr>
          <a:xfrm>
            <a:off x="6995159" y="1188719"/>
            <a:ext cx="4160521" cy="932690"/>
          </a:xfrm>
          <a:prstGeom prst="roundRect">
            <a:avLst>
              <a:gd name="adj" fmla="val 9804"/>
            </a:avLst>
          </a:prstGeom>
          <a:solidFill>
            <a:srgbClr val="1A2454"/>
          </a:solidFill>
          <a:ln w="1778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Shape 3"/>
          <p:cNvSpPr/>
          <p:nvPr/>
        </p:nvSpPr>
        <p:spPr>
          <a:xfrm>
            <a:off x="7269480" y="1463039"/>
            <a:ext cx="365761" cy="365761"/>
          </a:xfrm>
          <a:prstGeom prst="ellipse">
            <a:avLst/>
          </a:prstGeom>
          <a:solidFill>
            <a:srgbClr val="6EE7F9"/>
          </a:solidFill>
          <a:ln w="12700">
            <a:solidFill>
              <a:srgbClr val="6EE7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8" name="Text 4"/>
          <p:cNvSpPr txBox="1"/>
          <p:nvPr/>
        </p:nvSpPr>
        <p:spPr>
          <a:xfrm>
            <a:off x="7269480" y="1536191"/>
            <a:ext cx="365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89" name="Text 5"/>
          <p:cNvSpPr txBox="1"/>
          <p:nvPr/>
        </p:nvSpPr>
        <p:spPr>
          <a:xfrm>
            <a:off x="7845552" y="1353311"/>
            <a:ext cx="2560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它凭什么知道？</a:t>
            </a:r>
          </a:p>
        </p:txBody>
      </p:sp>
      <p:sp>
        <p:nvSpPr>
          <p:cNvPr id="690" name="Text 6"/>
          <p:cNvSpPr txBox="1"/>
          <p:nvPr/>
        </p:nvSpPr>
        <p:spPr>
          <a:xfrm>
            <a:off x="7845552" y="1719072"/>
            <a:ext cx="2834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A9B5C6"/>
                </a:solidFill>
              </a:defRPr>
            </a:lvl1pPr>
          </a:lstStyle>
          <a:p>
            <a:pPr/>
            <a:r>
              <a:t>数据和上下文可信吗？</a:t>
            </a:r>
          </a:p>
        </p:txBody>
      </p:sp>
      <p:sp>
        <p:nvSpPr>
          <p:cNvPr id="691" name="Shape 7"/>
          <p:cNvSpPr/>
          <p:nvPr/>
        </p:nvSpPr>
        <p:spPr>
          <a:xfrm>
            <a:off x="6995159" y="2514600"/>
            <a:ext cx="4160521" cy="932689"/>
          </a:xfrm>
          <a:prstGeom prst="roundRect">
            <a:avLst>
              <a:gd name="adj" fmla="val 9804"/>
            </a:avLst>
          </a:prstGeom>
          <a:solidFill>
            <a:srgbClr val="1A2454"/>
          </a:solidFill>
          <a:ln w="1778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2" name="Shape 8"/>
          <p:cNvSpPr/>
          <p:nvPr/>
        </p:nvSpPr>
        <p:spPr>
          <a:xfrm>
            <a:off x="7269480" y="2788920"/>
            <a:ext cx="365761" cy="365761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3" name="Text 9"/>
          <p:cNvSpPr txBox="1"/>
          <p:nvPr/>
        </p:nvSpPr>
        <p:spPr>
          <a:xfrm>
            <a:off x="7269480" y="2862072"/>
            <a:ext cx="365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4" name="Text 10"/>
          <p:cNvSpPr txBox="1"/>
          <p:nvPr/>
        </p:nvSpPr>
        <p:spPr>
          <a:xfrm>
            <a:off x="7845552" y="2679192"/>
            <a:ext cx="2560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错了谁发现？</a:t>
            </a:r>
          </a:p>
        </p:txBody>
      </p:sp>
      <p:sp>
        <p:nvSpPr>
          <p:cNvPr id="695" name="Text 11"/>
          <p:cNvSpPr txBox="1"/>
          <p:nvPr/>
        </p:nvSpPr>
        <p:spPr>
          <a:xfrm>
            <a:off x="7845552" y="3044951"/>
            <a:ext cx="2834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A9B5C6"/>
                </a:solidFill>
              </a:defRPr>
            </a:lvl1pPr>
          </a:lstStyle>
          <a:p>
            <a:pPr/>
            <a:r>
              <a:t>有测试、复核和回滚吗？</a:t>
            </a:r>
          </a:p>
        </p:txBody>
      </p:sp>
      <p:sp>
        <p:nvSpPr>
          <p:cNvPr id="696" name="Shape 12"/>
          <p:cNvSpPr/>
          <p:nvPr/>
        </p:nvSpPr>
        <p:spPr>
          <a:xfrm>
            <a:off x="6995159" y="3840479"/>
            <a:ext cx="4160521" cy="932689"/>
          </a:xfrm>
          <a:prstGeom prst="roundRect">
            <a:avLst>
              <a:gd name="adj" fmla="val 9804"/>
            </a:avLst>
          </a:prstGeom>
          <a:solidFill>
            <a:srgbClr val="1A2454"/>
          </a:solidFill>
          <a:ln w="1778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Shape 13"/>
          <p:cNvSpPr/>
          <p:nvPr/>
        </p:nvSpPr>
        <p:spPr>
          <a:xfrm>
            <a:off x="7269480" y="4114799"/>
            <a:ext cx="365761" cy="365762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8" name="Text 14"/>
          <p:cNvSpPr txBox="1"/>
          <p:nvPr/>
        </p:nvSpPr>
        <p:spPr>
          <a:xfrm>
            <a:off x="7269480" y="4187952"/>
            <a:ext cx="3657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0B1020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9" name="Text 15"/>
          <p:cNvSpPr txBox="1"/>
          <p:nvPr/>
        </p:nvSpPr>
        <p:spPr>
          <a:xfrm>
            <a:off x="7845552" y="4005071"/>
            <a:ext cx="25603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省下的钱够吗？</a:t>
            </a:r>
          </a:p>
        </p:txBody>
      </p:sp>
      <p:sp>
        <p:nvSpPr>
          <p:cNvPr id="700" name="Text 16"/>
          <p:cNvSpPr txBox="1"/>
          <p:nvPr/>
        </p:nvSpPr>
        <p:spPr>
          <a:xfrm>
            <a:off x="7845552" y="4370832"/>
            <a:ext cx="28346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100">
                <a:solidFill>
                  <a:srgbClr val="A9B5C6"/>
                </a:solidFill>
              </a:defRPr>
            </a:lvl1pPr>
          </a:lstStyle>
          <a:p>
            <a:pPr/>
            <a:r>
              <a:t>单位成本小于业务价值吗？</a:t>
            </a:r>
          </a:p>
        </p:txBody>
      </p:sp>
      <p:sp>
        <p:nvSpPr>
          <p:cNvPr id="701" name="Text 17"/>
          <p:cNvSpPr txBox="1"/>
          <p:nvPr/>
        </p:nvSpPr>
        <p:spPr>
          <a:xfrm>
            <a:off x="758951" y="5100955"/>
            <a:ext cx="5486401" cy="222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FFFFFF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AI 是概率引擎和放大器，不是责任承担者。</a:t>
            </a:r>
          </a:p>
        </p:txBody>
      </p:sp>
      <p:sp>
        <p:nvSpPr>
          <p:cNvPr id="702" name="Text 18"/>
          <p:cNvSpPr txBox="1"/>
          <p:nvPr/>
        </p:nvSpPr>
        <p:spPr>
          <a:xfrm>
            <a:off x="11201399" y="6492748"/>
            <a:ext cx="411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A9B5C6"/>
                </a:solidFill>
                <a:latin typeface="冬青黑体简体中文 W6"/>
                <a:ea typeface="冬青黑体简体中文 W6"/>
                <a:cs typeface="冬青黑体简体中文 W6"/>
                <a:sym typeface="冬青黑体简体中文 W6"/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冬青黑体简体中文 W3"/>
        <a:ea typeface="冬青黑体简体中文 W3"/>
        <a:cs typeface="冬青黑体简体中文 W3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冬青黑体简体中文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冬青黑体简体中文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冬青黑体简体中文 W3"/>
        <a:ea typeface="冬青黑体简体中文 W3"/>
        <a:cs typeface="冬青黑体简体中文 W3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冬青黑体简体中文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冬青黑体简体中文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